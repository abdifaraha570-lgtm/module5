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This is the Module 5 presentation for my BAN6800 capstone. It continues the same project as Modules 1-4. My role today is business analyst, not data scientist: I will explain what the model found and how fairly it behaves, without recommending a decision - that belongs to a separate deliverable. The dashboard link is live and shows the same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capacity and reach, not demand. The two KPIs come straight from my Module 1 vision document. The last tile is the rule from the Module 1 Ethical AI Charter that governs every slide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three rows are the ethics and compliance stakeholders from Module 1. The Regional Health Bureau only ever sees aggregates.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pause on with non-technical stakeholders. The model is a ranking tool with reasons attached; it is not a verdict on any patient.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is the KPI from Module 1. Precision is low by design: with one no-show in five, catching 70 % means accepting many false flags, each costing one reminder.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workload picture per 1,000 appointments. Right: the model comparison and calibration. The confusion matrix gives the raw counts behind the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values show how much each factor moves the predicted probability. For OPD staff the message is simple: long lead times and past no-shows are where to look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constructed examples scored with the real model so that the audience sees the logic end to end. The reason codes are the same ones the API returns.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Counterfactuals answer 'what would need to change'. The threshold chart is the capacity dial: leadership can see what a different call volume buys in recall.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fairness criterion is equal opportunity: because a flag brings help, what matters is that no-shows are caught equally in every group. Flag-rate differences by age reflect real differences in base rates, not bias. The disability group is small (2 %) so its bars are less precise.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Mitigation is post-processing: the model is unchanged; only the threshold per group moves. This is the least invasive method and keeps the model auditable.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are presented before implications on purpose. The proxy-data limitation is the most important: nothing here should be read as a measurement of Jigjiga patients.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ethics committees. It restates the charter, the privacy controls and who decides what.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results to the KPIs without recommending. The 500-appointment week is an illustration; the real volume comes from the HIS officer.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options, not a recommendation — the brief excludes recommendations from this deliverable. The appendix slides hold the technical detail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515600" cy="1463040"/>
          </a:xfrm>
          <a:prstGeom prst="rect">
            <a:avLst/>
          </a:prstGeom>
          <a:noFill/>
        </p:spPr>
        <p:txBody>
          <a:bodyPr wrap="square" anchor="t" lIns="73152" rIns="73152" tIns="36576" bIns="36576">
            <a:spAutoFit/>
          </a:bodyPr>
          <a:lstStyle/>
          <a:p>
            <a:pPr algn="l">
              <a:spcAft>
                <a:spcPts val="400"/>
              </a:spcAft>
            </a:pPr>
            <a:r>
              <a:rPr sz="3400" b="1">
                <a:solidFill>
                  <a:srgbClr val="FFFFFF"/>
                </a:solidFill>
                <a:latin typeface="Calibri"/>
              </a:rPr>
              <a:t>Who will miss their referral appointment — and what the model can and cannot tell us</a:t>
            </a:r>
          </a:p>
        </p:txBody>
      </p:sp>
      <p:sp>
        <p:nvSpPr>
          <p:cNvPr id="4" name="TextBox 3"/>
          <p:cNvSpPr txBox="1"/>
          <p:nvPr/>
        </p:nvSpPr>
        <p:spPr>
          <a:xfrm>
            <a:off x="731520" y="3017520"/>
            <a:ext cx="10515600" cy="822960"/>
          </a:xfrm>
          <a:prstGeom prst="rect">
            <a:avLst/>
          </a:prstGeom>
          <a:noFill/>
        </p:spPr>
        <p:txBody>
          <a:bodyPr wrap="square" anchor="t" lIns="73152" rIns="73152" tIns="36576" bIns="36576">
            <a:spAutoFit/>
          </a:bodyPr>
          <a:lstStyle/>
          <a:p>
            <a:pPr algn="l">
              <a:spcAft>
                <a:spcPts val="400"/>
              </a:spcAft>
            </a:pPr>
            <a:r>
              <a:rPr sz="1600" b="0">
                <a:solidFill>
                  <a:srgbClr val="D7E3EA"/>
                </a:solidFill>
                <a:latin typeface="Calibri"/>
              </a:rPr>
              <a:t>Stakeholder presentation of the referral no-show risk model for Jigjiga University Sheikh Hassan Yabare Comprehensive Specialized Hospital (JJUSHYCSH)</a:t>
            </a:r>
          </a:p>
        </p:txBody>
      </p:sp>
      <p:sp>
        <p:nvSpPr>
          <p:cNvPr id="5" name="TextBox 4"/>
          <p:cNvSpPr txBox="1"/>
          <p:nvPr/>
        </p:nvSpPr>
        <p:spPr>
          <a:xfrm>
            <a:off x="731520" y="4206240"/>
            <a:ext cx="10515600" cy="1280160"/>
          </a:xfrm>
          <a:prstGeom prst="rect">
            <a:avLst/>
          </a:prstGeom>
          <a:noFill/>
        </p:spPr>
        <p:txBody>
          <a:bodyPr wrap="square" anchor="t" lIns="73152" rIns="73152" tIns="36576" bIns="36576">
            <a:spAutoFit/>
          </a:bodyPr>
          <a:lstStyle/>
          <a:p>
            <a:pPr algn="l">
              <a:spcAft>
                <a:spcPts val="400"/>
              </a:spcAft>
            </a:pPr>
            <a:r>
              <a:rPr sz="1300" b="0">
                <a:solidFill>
                  <a:srgbClr val="FFFFFF"/>
                </a:solidFill>
                <a:latin typeface="Calibri"/>
              </a:rPr>
              <a:t>Abdi Farah Ahmed  ·  BAN6800 Business Analytics Capstone · Nexford University</a:t>
            </a:r>
          </a:p>
          <a:p>
            <a:pPr algn="l">
              <a:spcAft>
                <a:spcPts val="400"/>
              </a:spcAft>
            </a:pPr>
            <a:r>
              <a:rPr sz="1300" b="0">
                <a:solidFill>
                  <a:srgbClr val="FFFFFF"/>
                </a:solidFill>
                <a:latin typeface="Calibri"/>
              </a:rPr>
              <a:t>Module 5 Assignment — Business Insights Presentation for Stakeholder Decision-Making</a:t>
            </a:r>
          </a:p>
          <a:p>
            <a:pPr algn="l">
              <a:spcAft>
                <a:spcPts val="400"/>
              </a:spcAft>
            </a:pPr>
            <a:r>
              <a:rPr sz="1300" b="0">
                <a:solidFill>
                  <a:srgbClr val="FFFFFF"/>
                </a:solidFill>
                <a:latin typeface="Calibri"/>
              </a:rPr>
              <a:t>October 2026</a:t>
            </a:r>
          </a:p>
          <a:p>
            <a:pPr algn="l">
              <a:spcAft>
                <a:spcPts val="400"/>
              </a:spcAft>
            </a:pPr>
            <a:r>
              <a:rPr sz="1300" b="0">
                <a:solidFill>
                  <a:srgbClr val="FFFFFF"/>
                </a:solidFill>
                <a:latin typeface="Calibri"/>
              </a:rPr>
              <a:t>Objective: explain clearly and neutrally what the Module 4 model found, how it decides, and how fairly it treats patients — so that OPD, hospital leadership and the governance committees can judge it for themselves.</a:t>
            </a:r>
          </a:p>
        </p:txBody>
      </p:sp>
      <p:sp>
        <p:nvSpPr>
          <p:cNvPr id="6" name="TextBox 5"/>
          <p:cNvSpPr txBox="1"/>
          <p:nvPr/>
        </p:nvSpPr>
        <p:spPr>
          <a:xfrm>
            <a:off x="731520" y="5943600"/>
            <a:ext cx="10515600" cy="548640"/>
          </a:xfrm>
          <a:prstGeom prst="rect">
            <a:avLst/>
          </a:prstGeom>
          <a:noFill/>
        </p:spPr>
        <p:txBody>
          <a:bodyPr wrap="square" anchor="t" lIns="73152" rIns="73152" tIns="36576" bIns="36576">
            <a:spAutoFit/>
          </a:bodyPr>
          <a:lstStyle/>
          <a:p>
            <a:pPr algn="l">
              <a:spcAft>
                <a:spcPts val="400"/>
              </a:spcAft>
            </a:pPr>
            <a:r>
              <a:rPr sz="1200" b="0">
                <a:solidFill>
                  <a:srgbClr val="C8D8E0"/>
                </a:solidFill>
                <a:latin typeface="Calibri"/>
              </a:rPr>
              <a:t>Live dashboard: https://jjushycsh-noshow-dashboard-9nubvdk2zitnkwww33dukn.streamlit.app    ·    Code: https://github.com/abdifaraha570-lgtm/capstoneMolude3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The business problem</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From the Module 1 Vision Document and Module 2 Project Overview</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Business problem</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a:t>
            </a:r>
          </a:p>
        </p:txBody>
      </p:sp>
      <p:sp>
        <p:nvSpPr>
          <p:cNvPr id="8" name="TextBox 7"/>
          <p:cNvSpPr txBox="1"/>
          <p:nvPr/>
        </p:nvSpPr>
        <p:spPr>
          <a:xfrm>
            <a:off x="411480" y="1188720"/>
            <a:ext cx="5669280" cy="4206240"/>
          </a:xfrm>
          <a:prstGeom prst="rect">
            <a:avLst/>
          </a:prstGeom>
          <a:noFill/>
        </p:spPr>
        <p:txBody>
          <a:bodyPr wrap="square" anchor="t" lIns="73152" rIns="73152" tIns="36576" bIns="36576">
            <a:spAutoFit/>
          </a:bodyPr>
          <a:lstStyle/>
          <a:p>
            <a:pPr algn="l">
              <a:spcAft>
                <a:spcPts val="400"/>
              </a:spcAft>
            </a:pPr>
            <a:r>
              <a:rPr sz="1300" b="1">
                <a:solidFill>
                  <a:srgbClr val="1F2A37"/>
                </a:solidFill>
                <a:latin typeface="Calibri"/>
              </a:rPr>
              <a:t>Where</a:t>
            </a:r>
          </a:p>
          <a:p>
            <a:pPr algn="l">
              <a:spcAft>
                <a:spcPts val="400"/>
              </a:spcAft>
            </a:pPr>
            <a:r>
              <a:rPr sz="1300" b="0">
                <a:solidFill>
                  <a:srgbClr val="1F2A37"/>
                </a:solidFill>
                <a:latin typeface="Calibri"/>
              </a:rPr>
              <a:t>JJUSHYCSH is the only tertiary referral hospital for the Somali Region — a catchment of six to seven million, largely rural and pastoralist people, 600 km from Addis Ababa.</a:t>
            </a:r>
          </a:p>
          <a:p>
            <a:pPr algn="l">
              <a:spcAft>
                <a:spcPts val="400"/>
              </a:spcAft>
            </a:pPr>
            <a:r>
              <a:rPr sz="1300" b="1">
                <a:solidFill>
                  <a:srgbClr val="1F2A37"/>
                </a:solidFill>
                <a:latin typeface="Calibri"/>
              </a:rPr>
              <a:t>What goes wrong</a:t>
            </a:r>
          </a:p>
          <a:p>
            <a:pPr algn="l">
              <a:spcAft>
                <a:spcPts val="400"/>
              </a:spcAft>
            </a:pPr>
            <a:r>
              <a:rPr sz="1300" b="0">
                <a:solidFill>
                  <a:srgbClr val="1F2A37"/>
                </a:solidFill>
                <a:latin typeface="Calibri"/>
              </a:rPr>
              <a:t>About one in five scheduled appointments is missed in the proxy data. When a referred patient does not come, care is delayed for that patient and a specialist slot that someone else travelled hundreds of kilometres for goes unused.</a:t>
            </a:r>
          </a:p>
          <a:p>
            <a:pPr algn="l">
              <a:spcAft>
                <a:spcPts val="400"/>
              </a:spcAft>
            </a:pPr>
            <a:r>
              <a:rPr sz="1300" b="1">
                <a:solidFill>
                  <a:srgbClr val="1F2A37"/>
                </a:solidFill>
                <a:latin typeface="Calibri"/>
              </a:rPr>
              <a:t>Why now</a:t>
            </a:r>
          </a:p>
          <a:p>
            <a:pPr algn="l">
              <a:spcAft>
                <a:spcPts val="400"/>
              </a:spcAft>
            </a:pPr>
            <a:r>
              <a:rPr sz="1300" b="0">
                <a:solidFill>
                  <a:srgbClr val="1F2A37"/>
                </a:solidFill>
                <a:latin typeface="Calibri"/>
              </a:rPr>
              <a:t>OPD staff have no ranked list, so SMS, phone calls and community-health-worker visits cannot be targeted. Reminder capacity is the constraint, not demand.</a:t>
            </a:r>
          </a:p>
        </p:txBody>
      </p:sp>
      <p:sp>
        <p:nvSpPr>
          <p:cNvPr id="9" name="Rectangle 8"/>
          <p:cNvSpPr/>
          <p:nvPr/>
        </p:nvSpPr>
        <p:spPr>
          <a:xfrm>
            <a:off x="6309360" y="1280160"/>
            <a:ext cx="2651760" cy="15544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353312"/>
            <a:ext cx="265176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 15 %</a:t>
            </a:r>
          </a:p>
        </p:txBody>
      </p:sp>
      <p:sp>
        <p:nvSpPr>
          <p:cNvPr id="11" name="TextBox 10"/>
          <p:cNvSpPr txBox="1"/>
          <p:nvPr/>
        </p:nvSpPr>
        <p:spPr>
          <a:xfrm>
            <a:off x="6355080" y="2011680"/>
            <a:ext cx="2560320" cy="82296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fewer no-shows within two quarters of local deployment (Module 1 KPI)</a:t>
            </a:r>
          </a:p>
        </p:txBody>
      </p:sp>
      <p:sp>
        <p:nvSpPr>
          <p:cNvPr id="12" name="Rectangle 11"/>
          <p:cNvSpPr/>
          <p:nvPr/>
        </p:nvSpPr>
        <p:spPr>
          <a:xfrm>
            <a:off x="9144000" y="1280160"/>
            <a:ext cx="2651760" cy="15544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353312"/>
            <a:ext cx="265176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 70 %</a:t>
            </a:r>
          </a:p>
        </p:txBody>
      </p:sp>
      <p:sp>
        <p:nvSpPr>
          <p:cNvPr id="14" name="TextBox 13"/>
          <p:cNvSpPr txBox="1"/>
          <p:nvPr/>
        </p:nvSpPr>
        <p:spPr>
          <a:xfrm>
            <a:off x="9189720" y="2011680"/>
            <a:ext cx="2560320" cy="82296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of high-risk no-shows flagged (model KPI, Module 1)</a:t>
            </a:r>
          </a:p>
        </p:txBody>
      </p:sp>
      <p:sp>
        <p:nvSpPr>
          <p:cNvPr id="15" name="Rectangle 14"/>
          <p:cNvSpPr/>
          <p:nvPr/>
        </p:nvSpPr>
        <p:spPr>
          <a:xfrm>
            <a:off x="6309360" y="3017520"/>
            <a:ext cx="2651760" cy="15544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090672"/>
            <a:ext cx="265176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24–72 h</a:t>
            </a:r>
          </a:p>
        </p:txBody>
      </p:sp>
      <p:sp>
        <p:nvSpPr>
          <p:cNvPr id="17" name="TextBox 16"/>
          <p:cNvSpPr txBox="1"/>
          <p:nvPr/>
        </p:nvSpPr>
        <p:spPr>
          <a:xfrm>
            <a:off x="6355080" y="3749040"/>
            <a:ext cx="2560320" cy="82296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before the visit: the window in which a score must arrive to be acted on</a:t>
            </a:r>
          </a:p>
        </p:txBody>
      </p:sp>
      <p:sp>
        <p:nvSpPr>
          <p:cNvPr id="18" name="Rectangle 17"/>
          <p:cNvSpPr/>
          <p:nvPr/>
        </p:nvSpPr>
        <p:spPr>
          <a:xfrm>
            <a:off x="9144000" y="3017520"/>
            <a:ext cx="2651760" cy="15544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3090672"/>
            <a:ext cx="265176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0</a:t>
            </a:r>
          </a:p>
        </p:txBody>
      </p:sp>
      <p:sp>
        <p:nvSpPr>
          <p:cNvPr id="20" name="TextBox 19"/>
          <p:cNvSpPr txBox="1"/>
          <p:nvPr/>
        </p:nvSpPr>
        <p:spPr>
          <a:xfrm>
            <a:off x="9189720" y="3749040"/>
            <a:ext cx="2560320" cy="82296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patients may be cancelled, overbooked against or deprioritised because of a score</a:t>
            </a:r>
          </a:p>
        </p:txBody>
      </p:sp>
      <p:sp>
        <p:nvSpPr>
          <p:cNvPr id="21" name="Rectangle 20"/>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The question for this presentation: can a model tell us, early enough and fairly, which appointments need extra outreach?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Who this is for, and what they need to decide</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Stakeholders from Module 1 and the Module 2 communication plan</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Audience</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3</a:t>
            </a:r>
          </a:p>
        </p:txBody>
      </p:sp>
      <p:graphicFrame>
        <p:nvGraphicFramePr>
          <p:cNvPr id="8" name="Table 7"/>
          <p:cNvGraphicFramePr>
            <a:graphicFrameLocks noGrp="1"/>
          </p:cNvGraphicFramePr>
          <p:nvPr/>
        </p:nvGraphicFramePr>
        <p:xfrm>
          <a:off x="411480" y="1188720"/>
          <a:ext cx="11338560" cy="2633472"/>
        </p:xfrm>
        <a:graphic>
          <a:graphicData uri="http://schemas.openxmlformats.org/drawingml/2006/table">
            <a:tbl>
              <a:tblPr firstRow="1" bandRow="1">
                <a:tableStyleId>{5C22544A-7EE6-4342-B048-85BDC9FD1C3A}</a:tableStyleId>
              </a:tblPr>
              <a:tblGrid>
                <a:gridCol w="3291840"/>
                <a:gridCol w="3291840"/>
                <a:gridCol w="4754880"/>
              </a:tblGrid>
              <a:tr h="329184">
                <a:tc>
                  <a:txBody>
                    <a:bodyPr/>
                    <a:lstStyle/>
                    <a:p>
                      <a:r>
                        <a:rPr sz="1100" b="1">
                          <a:solidFill>
                            <a:srgbClr val="FFFFFF"/>
                          </a:solidFill>
                          <a:latin typeface="Calibri"/>
                        </a:rPr>
                        <a:t>Stakeholder</a:t>
                      </a:r>
                    </a:p>
                  </a:txBody>
                  <a:tcPr marL="54864" marR="54864" marT="27432" marB="27432">
                    <a:solidFill>
                      <a:srgbClr val="1F3B57"/>
                    </a:solidFill>
                  </a:tcPr>
                </a:tc>
                <a:tc>
                  <a:txBody>
                    <a:bodyPr/>
                    <a:lstStyle/>
                    <a:p>
                      <a:r>
                        <a:rPr sz="1100" b="1">
                          <a:solidFill>
                            <a:srgbClr val="FFFFFF"/>
                          </a:solidFill>
                          <a:latin typeface="Calibri"/>
                        </a:rPr>
                        <a:t>Decision they make</a:t>
                      </a:r>
                    </a:p>
                  </a:txBody>
                  <a:tcPr marL="54864" marR="54864" marT="27432" marB="27432">
                    <a:solidFill>
                      <a:srgbClr val="1F3B57"/>
                    </a:solidFill>
                  </a:tcPr>
                </a:tc>
                <a:tc>
                  <a:txBody>
                    <a:bodyPr/>
                    <a:lstStyle/>
                    <a:p>
                      <a:r>
                        <a:rPr sz="1100" b="1">
                          <a:solidFill>
                            <a:srgbClr val="FFFFFF"/>
                          </a:solidFill>
                          <a:latin typeface="Calibri"/>
                        </a:rPr>
                        <a:t>What they need from this presentation</a:t>
                      </a:r>
                    </a:p>
                  </a:txBody>
                  <a:tcPr marL="54864" marR="54864" marT="27432" marB="27432">
                    <a:solidFill>
                      <a:srgbClr val="1F3B57"/>
                    </a:solidFill>
                  </a:tcPr>
                </a:tc>
              </a:tr>
              <a:tr h="329184">
                <a:tc>
                  <a:txBody>
                    <a:bodyPr/>
                    <a:lstStyle/>
                    <a:p>
                      <a:r>
                        <a:rPr sz="1100">
                          <a:solidFill>
                            <a:srgbClr val="1F2A37"/>
                          </a:solidFill>
                          <a:latin typeface="Calibri"/>
                        </a:rPr>
                        <a:t>OPD schedulers / referral coordinators</a:t>
                      </a:r>
                    </a:p>
                  </a:txBody>
                  <a:tcPr marL="54864" marR="54864" marT="27432" marB="27432">
                    <a:solidFill>
                      <a:srgbClr val="F3F6F8"/>
                    </a:solidFill>
                  </a:tcPr>
                </a:tc>
                <a:tc>
                  <a:txBody>
                    <a:bodyPr/>
                    <a:lstStyle/>
                    <a:p>
                      <a:r>
                        <a:rPr sz="1100">
                          <a:solidFill>
                            <a:srgbClr val="1F2A37"/>
                          </a:solidFill>
                          <a:latin typeface="Calibri"/>
                        </a:rPr>
                        <a:t>Whom to call, SMS or visit each day</a:t>
                      </a:r>
                    </a:p>
                  </a:txBody>
                  <a:tcPr marL="54864" marR="54864" marT="27432" marB="27432">
                    <a:solidFill>
                      <a:srgbClr val="F3F6F8"/>
                    </a:solidFill>
                  </a:tcPr>
                </a:tc>
                <a:tc>
                  <a:txBody>
                    <a:bodyPr/>
                    <a:lstStyle/>
                    <a:p>
                      <a:r>
                        <a:rPr sz="1100">
                          <a:solidFill>
                            <a:srgbClr val="1F2A37"/>
                          </a:solidFill>
                          <a:latin typeface="Calibri"/>
                        </a:rPr>
                        <a:t>Is the list trustworthy? Why is a patient flagged? How many calls per day?</a:t>
                      </a:r>
                    </a:p>
                  </a:txBody>
                  <a:tcPr marL="54864" marR="54864" marT="27432" marB="27432">
                    <a:solidFill>
                      <a:srgbClr val="F3F6F8"/>
                    </a:solidFill>
                  </a:tcPr>
                </a:tc>
              </a:tr>
              <a:tr h="329184">
                <a:tc>
                  <a:txBody>
                    <a:bodyPr/>
                    <a:lstStyle/>
                    <a:p>
                      <a:r>
                        <a:rPr sz="1100">
                          <a:solidFill>
                            <a:srgbClr val="1F2A37"/>
                          </a:solidFill>
                          <a:latin typeface="Calibri"/>
                        </a:rPr>
                        <a:t>Department heads</a:t>
                      </a:r>
                    </a:p>
                  </a:txBody>
                  <a:tcPr marL="54864" marR="54864" marT="27432" marB="27432">
                    <a:solidFill>
                      <a:srgbClr val="FFFFFF"/>
                    </a:solidFill>
                  </a:tcPr>
                </a:tc>
                <a:tc>
                  <a:txBody>
                    <a:bodyPr/>
                    <a:lstStyle/>
                    <a:p>
                      <a:r>
                        <a:rPr sz="1100">
                          <a:solidFill>
                            <a:srgbClr val="1F2A37"/>
                          </a:solidFill>
                          <a:latin typeface="Calibri"/>
                        </a:rPr>
                        <a:t>Where to put outreach effort by service</a:t>
                      </a:r>
                    </a:p>
                  </a:txBody>
                  <a:tcPr marL="54864" marR="54864" marT="27432" marB="27432">
                    <a:solidFill>
                      <a:srgbClr val="FFFFFF"/>
                    </a:solidFill>
                  </a:tcPr>
                </a:tc>
                <a:tc>
                  <a:txBody>
                    <a:bodyPr/>
                    <a:lstStyle/>
                    <a:p>
                      <a:r>
                        <a:rPr sz="1100">
                          <a:solidFill>
                            <a:srgbClr val="1F2A37"/>
                          </a:solidFill>
                          <a:latin typeface="Calibri"/>
                        </a:rPr>
                        <a:t>Which patterns drive no-shows; what the flag rate means for staff time</a:t>
                      </a:r>
                    </a:p>
                  </a:txBody>
                  <a:tcPr marL="54864" marR="54864" marT="27432" marB="27432">
                    <a:solidFill>
                      <a:srgbClr val="FFFFFF"/>
                    </a:solidFill>
                  </a:tcPr>
                </a:tc>
              </a:tr>
              <a:tr h="329184">
                <a:tc>
                  <a:txBody>
                    <a:bodyPr/>
                    <a:lstStyle/>
                    <a:p>
                      <a:r>
                        <a:rPr sz="1100">
                          <a:solidFill>
                            <a:srgbClr val="1F2A37"/>
                          </a:solidFill>
                          <a:latin typeface="Calibri"/>
                        </a:rPr>
                        <a:t>Medical Director / administration</a:t>
                      </a:r>
                    </a:p>
                  </a:txBody>
                  <a:tcPr marL="54864" marR="54864" marT="27432" marB="27432">
                    <a:solidFill>
                      <a:srgbClr val="F3F6F8"/>
                    </a:solidFill>
                  </a:tcPr>
                </a:tc>
                <a:tc>
                  <a:txBody>
                    <a:bodyPr/>
                    <a:lstStyle/>
                    <a:p>
                      <a:r>
                        <a:rPr sz="1100">
                          <a:solidFill>
                            <a:srgbClr val="1F2A37"/>
                          </a:solidFill>
                          <a:latin typeface="Calibri"/>
                        </a:rPr>
                        <a:t>Whether to pilot the tool on local data</a:t>
                      </a:r>
                    </a:p>
                  </a:txBody>
                  <a:tcPr marL="54864" marR="54864" marT="27432" marB="27432">
                    <a:solidFill>
                      <a:srgbClr val="F3F6F8"/>
                    </a:solidFill>
                  </a:tcPr>
                </a:tc>
                <a:tc>
                  <a:txBody>
                    <a:bodyPr/>
                    <a:lstStyle/>
                    <a:p>
                      <a:r>
                        <a:rPr sz="1100">
                          <a:solidFill>
                            <a:srgbClr val="1F2A37"/>
                          </a:solidFill>
                          <a:latin typeface="Calibri"/>
                        </a:rPr>
                        <a:t>Honest performance, limits, and what it would take to go live</a:t>
                      </a:r>
                    </a:p>
                  </a:txBody>
                  <a:tcPr marL="54864" marR="54864" marT="27432" marB="27432">
                    <a:solidFill>
                      <a:srgbClr val="F3F6F8"/>
                    </a:solidFill>
                  </a:tcPr>
                </a:tc>
              </a:tr>
              <a:tr h="329184">
                <a:tc>
                  <a:txBody>
                    <a:bodyPr/>
                    <a:lstStyle/>
                    <a:p>
                      <a:r>
                        <a:rPr sz="1100">
                          <a:solidFill>
                            <a:srgbClr val="1F2A37"/>
                          </a:solidFill>
                          <a:latin typeface="Calibri"/>
                        </a:rPr>
                        <a:t>HIS / data officer</a:t>
                      </a:r>
                    </a:p>
                  </a:txBody>
                  <a:tcPr marL="54864" marR="54864" marT="27432" marB="27432">
                    <a:solidFill>
                      <a:srgbClr val="FFFFFF"/>
                    </a:solidFill>
                  </a:tcPr>
                </a:tc>
                <a:tc>
                  <a:txBody>
                    <a:bodyPr/>
                    <a:lstStyle/>
                    <a:p>
                      <a:r>
                        <a:rPr sz="1100">
                          <a:solidFill>
                            <a:srgbClr val="1F2A37"/>
                          </a:solidFill>
                          <a:latin typeface="Calibri"/>
                        </a:rPr>
                        <a:t>Data refresh and quality upkeep</a:t>
                      </a:r>
                    </a:p>
                  </a:txBody>
                  <a:tcPr marL="54864" marR="54864" marT="27432" marB="27432">
                    <a:solidFill>
                      <a:srgbClr val="FFFFFF"/>
                    </a:solidFill>
                  </a:tcPr>
                </a:tc>
                <a:tc>
                  <a:txBody>
                    <a:bodyPr/>
                    <a:lstStyle/>
                    <a:p>
                      <a:r>
                        <a:rPr sz="1100">
                          <a:solidFill>
                            <a:srgbClr val="1F2A37"/>
                          </a:solidFill>
                          <a:latin typeface="Calibri"/>
                        </a:rPr>
                        <a:t>What data the model needs and how results are monitored</a:t>
                      </a:r>
                    </a:p>
                  </a:txBody>
                  <a:tcPr marL="54864" marR="54864" marT="27432" marB="27432">
                    <a:solidFill>
                      <a:srgbClr val="FFFFFF"/>
                    </a:solidFill>
                  </a:tcPr>
                </a:tc>
              </a:tr>
              <a:tr h="329184">
                <a:tc>
                  <a:txBody>
                    <a:bodyPr/>
                    <a:lstStyle/>
                    <a:p>
                      <a:r>
                        <a:rPr sz="1100">
                          <a:solidFill>
                            <a:srgbClr val="1F2A37"/>
                          </a:solidFill>
                          <a:latin typeface="Calibri"/>
                        </a:rPr>
                        <a:t>Hospital Research &amp; Ethics Review Committee</a:t>
                      </a:r>
                    </a:p>
                  </a:txBody>
                  <a:tcPr marL="54864" marR="54864" marT="27432" marB="27432">
                    <a:solidFill>
                      <a:srgbClr val="F3F6F8"/>
                    </a:solidFill>
                  </a:tcPr>
                </a:tc>
                <a:tc>
                  <a:txBody>
                    <a:bodyPr/>
                    <a:lstStyle/>
                    <a:p>
                      <a:r>
                        <a:rPr sz="1100">
                          <a:solidFill>
                            <a:srgbClr val="1F2A37"/>
                          </a:solidFill>
                          <a:latin typeface="Calibri"/>
                        </a:rPr>
                        <a:t>Approval of patient-data use</a:t>
                      </a:r>
                    </a:p>
                  </a:txBody>
                  <a:tcPr marL="54864" marR="54864" marT="27432" marB="27432">
                    <a:solidFill>
                      <a:srgbClr val="F3F6F8"/>
                    </a:solidFill>
                  </a:tcPr>
                </a:tc>
                <a:tc>
                  <a:txBody>
                    <a:bodyPr/>
                    <a:lstStyle/>
                    <a:p>
                      <a:r>
                        <a:rPr sz="1100">
                          <a:solidFill>
                            <a:srgbClr val="1F2A37"/>
                          </a:solidFill>
                          <a:latin typeface="Calibri"/>
                        </a:rPr>
                        <a:t>Privacy safeguards, consent, proxy-data disclosure</a:t>
                      </a:r>
                    </a:p>
                  </a:txBody>
                  <a:tcPr marL="54864" marR="54864" marT="27432" marB="27432">
                    <a:solidFill>
                      <a:srgbClr val="F3F6F8"/>
                    </a:solidFill>
                  </a:tcPr>
                </a:tc>
              </a:tr>
              <a:tr h="329184">
                <a:tc>
                  <a:txBody>
                    <a:bodyPr/>
                    <a:lstStyle/>
                    <a:p>
                      <a:r>
                        <a:rPr sz="1100">
                          <a:solidFill>
                            <a:srgbClr val="1F2A37"/>
                          </a:solidFill>
                          <a:latin typeface="Calibri"/>
                        </a:rPr>
                        <a:t>AI &amp; Data Governance Committee</a:t>
                      </a:r>
                    </a:p>
                  </a:txBody>
                  <a:tcPr marL="54864" marR="54864" marT="27432" marB="27432">
                    <a:solidFill>
                      <a:srgbClr val="FFFFFF"/>
                    </a:solidFill>
                  </a:tcPr>
                </a:tc>
                <a:tc>
                  <a:txBody>
                    <a:bodyPr/>
                    <a:lstStyle/>
                    <a:p>
                      <a:r>
                        <a:rPr sz="1100">
                          <a:solidFill>
                            <a:srgbClr val="1F2A37"/>
                          </a:solidFill>
                          <a:latin typeface="Calibri"/>
                        </a:rPr>
                        <a:t>Fairness thresholds, change control</a:t>
                      </a:r>
                    </a:p>
                  </a:txBody>
                  <a:tcPr marL="54864" marR="54864" marT="27432" marB="27432">
                    <a:solidFill>
                      <a:srgbClr val="FFFFFF"/>
                    </a:solidFill>
                  </a:tcPr>
                </a:tc>
                <a:tc>
                  <a:txBody>
                    <a:bodyPr/>
                    <a:lstStyle/>
                    <a:p>
                      <a:r>
                        <a:rPr sz="1100">
                          <a:solidFill>
                            <a:srgbClr val="1F2A37"/>
                          </a:solidFill>
                          <a:latin typeface="Calibri"/>
                        </a:rPr>
                        <a:t>Group-level recall gaps, mitigation, oversight hooks</a:t>
                      </a:r>
                    </a:p>
                  </a:txBody>
                  <a:tcPr marL="54864" marR="54864" marT="27432" marB="27432">
                    <a:solidFill>
                      <a:srgbClr val="FFFFFF"/>
                    </a:solidFill>
                  </a:tcPr>
                </a:tc>
              </a:tr>
              <a:tr h="329184">
                <a:tc>
                  <a:txBody>
                    <a:bodyPr/>
                    <a:lstStyle/>
                    <a:p>
                      <a:r>
                        <a:rPr sz="1100">
                          <a:solidFill>
                            <a:srgbClr val="1F2A37"/>
                          </a:solidFill>
                          <a:latin typeface="Calibri"/>
                        </a:rPr>
                        <a:t>Somali Regional Health Bureau</a:t>
                      </a:r>
                    </a:p>
                  </a:txBody>
                  <a:tcPr marL="54864" marR="54864" marT="27432" marB="27432">
                    <a:solidFill>
                      <a:srgbClr val="F3F6F8"/>
                    </a:solidFill>
                  </a:tcPr>
                </a:tc>
                <a:tc>
                  <a:txBody>
                    <a:bodyPr/>
                    <a:lstStyle/>
                    <a:p>
                      <a:r>
                        <a:rPr sz="1100">
                          <a:solidFill>
                            <a:srgbClr val="1F2A37"/>
                          </a:solidFill>
                          <a:latin typeface="Calibri"/>
                        </a:rPr>
                        <a:t>Oversight (aggregate only)</a:t>
                      </a:r>
                    </a:p>
                  </a:txBody>
                  <a:tcPr marL="54864" marR="54864" marT="27432" marB="27432">
                    <a:solidFill>
                      <a:srgbClr val="F3F6F8"/>
                    </a:solidFill>
                  </a:tcPr>
                </a:tc>
                <a:tc>
                  <a:txBody>
                    <a:bodyPr/>
                    <a:lstStyle/>
                    <a:p>
                      <a:r>
                        <a:rPr sz="1100">
                          <a:solidFill>
                            <a:srgbClr val="1F2A37"/>
                          </a:solidFill>
                          <a:latin typeface="Calibri"/>
                        </a:rPr>
                        <a:t>Aggregate results; no patient-level data</a:t>
                      </a:r>
                    </a:p>
                  </a:txBody>
                  <a:tcPr marL="54864" marR="54864" marT="27432" marB="27432">
                    <a:solidFill>
                      <a:srgbClr val="F3F6F8"/>
                    </a:solidFill>
                  </a:tcPr>
                </a:tc>
              </a:tr>
            </a:tbl>
          </a:graphicData>
        </a:graphic>
      </p:graphicFrame>
      <p:sp>
        <p:nvSpPr>
          <p:cNvPr id="9" name="Rectangle 8"/>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Two audiences in one room: operational users who need clarity, and ethics bodies who need evidence. The deck serves both; the dashboard lets each explore on their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What the model is, in plain language</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Five modules, one project</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Model</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4</a:t>
            </a:r>
          </a:p>
        </p:txBody>
      </p:sp>
      <p:sp>
        <p:nvSpPr>
          <p:cNvPr id="8" name="Rectangle 7"/>
          <p:cNvSpPr/>
          <p:nvPr/>
        </p:nvSpPr>
        <p:spPr>
          <a:xfrm>
            <a:off x="411480" y="1188720"/>
            <a:ext cx="210312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207008"/>
            <a:ext cx="2103120" cy="365760"/>
          </a:xfrm>
          <a:prstGeom prst="rect">
            <a:avLst/>
          </a:prstGeom>
          <a:noFill/>
        </p:spPr>
        <p:txBody>
          <a:bodyPr wrap="square" anchor="t" lIns="73152" rIns="73152" tIns="36576" bIns="36576">
            <a:spAutoFit/>
          </a:bodyPr>
          <a:lstStyle/>
          <a:p>
            <a:pPr algn="ctr">
              <a:spcAft>
                <a:spcPts val="400"/>
              </a:spcAft>
            </a:pPr>
            <a:r>
              <a:rPr sz="1200" b="1">
                <a:solidFill>
                  <a:srgbClr val="1F3B57"/>
                </a:solidFill>
                <a:latin typeface="Calibri"/>
              </a:rPr>
              <a:t>Module 1</a:t>
            </a:r>
          </a:p>
        </p:txBody>
      </p:sp>
      <p:sp>
        <p:nvSpPr>
          <p:cNvPr id="10" name="TextBox 9"/>
          <p:cNvSpPr txBox="1"/>
          <p:nvPr/>
        </p:nvSpPr>
        <p:spPr>
          <a:xfrm>
            <a:off x="411480" y="1481328"/>
            <a:ext cx="2103120" cy="548640"/>
          </a:xfrm>
          <a:prstGeom prst="rect">
            <a:avLst/>
          </a:prstGeom>
          <a:noFill/>
        </p:spPr>
        <p:txBody>
          <a:bodyPr wrap="square" anchor="t" lIns="73152" rIns="73152" tIns="36576" bIns="36576">
            <a:spAutoFit/>
          </a:bodyPr>
          <a:lstStyle/>
          <a:p>
            <a:pPr algn="ctr">
              <a:spcAft>
                <a:spcPts val="400"/>
              </a:spcAft>
            </a:pPr>
            <a:r>
              <a:rPr sz="1000" b="0">
                <a:solidFill>
                  <a:srgbClr val="1F2A37"/>
                </a:solidFill>
                <a:latin typeface="Calibri"/>
              </a:rPr>
              <a:t>Vision, KPIs, ethical charter</a:t>
            </a:r>
          </a:p>
        </p:txBody>
      </p:sp>
      <p:sp>
        <p:nvSpPr>
          <p:cNvPr id="11" name="Rectangle 10"/>
          <p:cNvSpPr/>
          <p:nvPr/>
        </p:nvSpPr>
        <p:spPr>
          <a:xfrm>
            <a:off x="2697480" y="1188720"/>
            <a:ext cx="210312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80" y="1207008"/>
            <a:ext cx="2103120" cy="365760"/>
          </a:xfrm>
          <a:prstGeom prst="rect">
            <a:avLst/>
          </a:prstGeom>
          <a:noFill/>
        </p:spPr>
        <p:txBody>
          <a:bodyPr wrap="square" anchor="t" lIns="73152" rIns="73152" tIns="36576" bIns="36576">
            <a:spAutoFit/>
          </a:bodyPr>
          <a:lstStyle/>
          <a:p>
            <a:pPr algn="ctr">
              <a:spcAft>
                <a:spcPts val="400"/>
              </a:spcAft>
            </a:pPr>
            <a:r>
              <a:rPr sz="1200" b="1">
                <a:solidFill>
                  <a:srgbClr val="1F3B57"/>
                </a:solidFill>
                <a:latin typeface="Calibri"/>
              </a:rPr>
              <a:t>Module 2</a:t>
            </a:r>
          </a:p>
        </p:txBody>
      </p:sp>
      <p:sp>
        <p:nvSpPr>
          <p:cNvPr id="13" name="TextBox 12"/>
          <p:cNvSpPr txBox="1"/>
          <p:nvPr/>
        </p:nvSpPr>
        <p:spPr>
          <a:xfrm>
            <a:off x="2697480" y="1481328"/>
            <a:ext cx="2103120" cy="548640"/>
          </a:xfrm>
          <a:prstGeom prst="rect">
            <a:avLst/>
          </a:prstGeom>
          <a:noFill/>
        </p:spPr>
        <p:txBody>
          <a:bodyPr wrap="square" anchor="t" lIns="73152" rIns="73152" tIns="36576" bIns="36576">
            <a:spAutoFit/>
          </a:bodyPr>
          <a:lstStyle/>
          <a:p>
            <a:pPr algn="ctr">
              <a:spcAft>
                <a:spcPts val="400"/>
              </a:spcAft>
            </a:pPr>
            <a:r>
              <a:rPr sz="1000" b="0">
                <a:solidFill>
                  <a:srgbClr val="1F2A37"/>
                </a:solidFill>
                <a:latin typeface="Calibri"/>
              </a:rPr>
              <a:t>Plan, architecture, fairness criteria</a:t>
            </a:r>
          </a:p>
        </p:txBody>
      </p:sp>
      <p:sp>
        <p:nvSpPr>
          <p:cNvPr id="14" name="Rectangle 13"/>
          <p:cNvSpPr/>
          <p:nvPr/>
        </p:nvSpPr>
        <p:spPr>
          <a:xfrm>
            <a:off x="4983480" y="1188720"/>
            <a:ext cx="210312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1207008"/>
            <a:ext cx="2103120" cy="365760"/>
          </a:xfrm>
          <a:prstGeom prst="rect">
            <a:avLst/>
          </a:prstGeom>
          <a:noFill/>
        </p:spPr>
        <p:txBody>
          <a:bodyPr wrap="square" anchor="t" lIns="73152" rIns="73152" tIns="36576" bIns="36576">
            <a:spAutoFit/>
          </a:bodyPr>
          <a:lstStyle/>
          <a:p>
            <a:pPr algn="ctr">
              <a:spcAft>
                <a:spcPts val="400"/>
              </a:spcAft>
            </a:pPr>
            <a:r>
              <a:rPr sz="1200" b="1">
                <a:solidFill>
                  <a:srgbClr val="1F3B57"/>
                </a:solidFill>
                <a:latin typeface="Calibri"/>
              </a:rPr>
              <a:t>Module 3</a:t>
            </a:r>
          </a:p>
        </p:txBody>
      </p:sp>
      <p:sp>
        <p:nvSpPr>
          <p:cNvPr id="16" name="TextBox 15"/>
          <p:cNvSpPr txBox="1"/>
          <p:nvPr/>
        </p:nvSpPr>
        <p:spPr>
          <a:xfrm>
            <a:off x="4983480" y="1481328"/>
            <a:ext cx="2103120" cy="548640"/>
          </a:xfrm>
          <a:prstGeom prst="rect">
            <a:avLst/>
          </a:prstGeom>
          <a:noFill/>
        </p:spPr>
        <p:txBody>
          <a:bodyPr wrap="square" anchor="t" lIns="73152" rIns="73152" tIns="36576" bIns="36576">
            <a:spAutoFit/>
          </a:bodyPr>
          <a:lstStyle/>
          <a:p>
            <a:pPr algn="ctr">
              <a:spcAft>
                <a:spcPts val="400"/>
              </a:spcAft>
            </a:pPr>
            <a:r>
              <a:rPr sz="1000" b="0">
                <a:solidFill>
                  <a:srgbClr val="1F2A37"/>
                </a:solidFill>
                <a:latin typeface="Calibri"/>
              </a:rPr>
              <a:t>Governed data pipeline, pseudonymised data</a:t>
            </a:r>
          </a:p>
        </p:txBody>
      </p:sp>
      <p:sp>
        <p:nvSpPr>
          <p:cNvPr id="17" name="Rectangle 16"/>
          <p:cNvSpPr/>
          <p:nvPr/>
        </p:nvSpPr>
        <p:spPr>
          <a:xfrm>
            <a:off x="7269480" y="1188720"/>
            <a:ext cx="210312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207008"/>
            <a:ext cx="2103120" cy="365760"/>
          </a:xfrm>
          <a:prstGeom prst="rect">
            <a:avLst/>
          </a:prstGeom>
          <a:noFill/>
        </p:spPr>
        <p:txBody>
          <a:bodyPr wrap="square" anchor="t" lIns="73152" rIns="73152" tIns="36576" bIns="36576">
            <a:spAutoFit/>
          </a:bodyPr>
          <a:lstStyle/>
          <a:p>
            <a:pPr algn="ctr">
              <a:spcAft>
                <a:spcPts val="400"/>
              </a:spcAft>
            </a:pPr>
            <a:r>
              <a:rPr sz="1200" b="1">
                <a:solidFill>
                  <a:srgbClr val="1F3B57"/>
                </a:solidFill>
                <a:latin typeface="Calibri"/>
              </a:rPr>
              <a:t>Module 4</a:t>
            </a:r>
          </a:p>
        </p:txBody>
      </p:sp>
      <p:sp>
        <p:nvSpPr>
          <p:cNvPr id="19" name="TextBox 18"/>
          <p:cNvSpPr txBox="1"/>
          <p:nvPr/>
        </p:nvSpPr>
        <p:spPr>
          <a:xfrm>
            <a:off x="7269480" y="1481328"/>
            <a:ext cx="2103120" cy="548640"/>
          </a:xfrm>
          <a:prstGeom prst="rect">
            <a:avLst/>
          </a:prstGeom>
          <a:noFill/>
        </p:spPr>
        <p:txBody>
          <a:bodyPr wrap="square" anchor="t" lIns="73152" rIns="73152" tIns="36576" bIns="36576">
            <a:spAutoFit/>
          </a:bodyPr>
          <a:lstStyle/>
          <a:p>
            <a:pPr algn="ctr">
              <a:spcAft>
                <a:spcPts val="400"/>
              </a:spcAft>
            </a:pPr>
            <a:r>
              <a:rPr sz="1000" b="0">
                <a:solidFill>
                  <a:srgbClr val="1F2A37"/>
                </a:solidFill>
                <a:latin typeface="Calibri"/>
              </a:rPr>
              <a:t>Model, explanations, fairness audit</a:t>
            </a:r>
          </a:p>
        </p:txBody>
      </p:sp>
      <p:sp>
        <p:nvSpPr>
          <p:cNvPr id="20" name="Rectangle 19"/>
          <p:cNvSpPr/>
          <p:nvPr/>
        </p:nvSpPr>
        <p:spPr>
          <a:xfrm>
            <a:off x="9555480" y="1188720"/>
            <a:ext cx="2103120" cy="82296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5480" y="1207008"/>
            <a:ext cx="2103120" cy="365760"/>
          </a:xfrm>
          <a:prstGeom prst="rect">
            <a:avLst/>
          </a:prstGeom>
          <a:noFill/>
        </p:spPr>
        <p:txBody>
          <a:bodyPr wrap="square" anchor="t" lIns="73152" rIns="73152" tIns="36576" bIns="36576">
            <a:spAutoFit/>
          </a:bodyPr>
          <a:lstStyle/>
          <a:p>
            <a:pPr algn="ctr">
              <a:spcAft>
                <a:spcPts val="400"/>
              </a:spcAft>
            </a:pPr>
            <a:r>
              <a:rPr sz="1200" b="1">
                <a:solidFill>
                  <a:srgbClr val="FFFFFF"/>
                </a:solidFill>
                <a:latin typeface="Calibri"/>
              </a:rPr>
              <a:t>Module 5</a:t>
            </a:r>
          </a:p>
        </p:txBody>
      </p:sp>
      <p:sp>
        <p:nvSpPr>
          <p:cNvPr id="22" name="TextBox 21"/>
          <p:cNvSpPr txBox="1"/>
          <p:nvPr/>
        </p:nvSpPr>
        <p:spPr>
          <a:xfrm>
            <a:off x="9555480" y="1481328"/>
            <a:ext cx="2103120" cy="548640"/>
          </a:xfrm>
          <a:prstGeom prst="rect">
            <a:avLst/>
          </a:prstGeom>
          <a:noFill/>
        </p:spPr>
        <p:txBody>
          <a:bodyPr wrap="square" anchor="t" lIns="73152" rIns="73152" tIns="36576" bIns="36576">
            <a:spAutoFit/>
          </a:bodyPr>
          <a:lstStyle/>
          <a:p>
            <a:pPr algn="ctr">
              <a:spcAft>
                <a:spcPts val="400"/>
              </a:spcAft>
            </a:pPr>
            <a:r>
              <a:rPr sz="1000" b="0">
                <a:solidFill>
                  <a:srgbClr val="FFFFFF"/>
                </a:solidFill>
                <a:latin typeface="Calibri"/>
              </a:rPr>
              <a:t>This presentation + live dashboard</a:t>
            </a:r>
          </a:p>
        </p:txBody>
      </p:sp>
      <p:sp>
        <p:nvSpPr>
          <p:cNvPr id="23" name="TextBox 22"/>
          <p:cNvSpPr txBox="1"/>
          <p:nvPr/>
        </p:nvSpPr>
        <p:spPr>
          <a:xfrm>
            <a:off x="411480" y="2286000"/>
            <a:ext cx="11338560" cy="3291840"/>
          </a:xfrm>
          <a:prstGeom prst="rect">
            <a:avLst/>
          </a:prstGeom>
          <a:noFill/>
        </p:spPr>
        <p:txBody>
          <a:bodyPr wrap="square" anchor="t" lIns="73152" rIns="73152" tIns="36576" bIns="36576">
            <a:spAutoFit/>
          </a:bodyPr>
          <a:lstStyle/>
          <a:p>
            <a:pPr algn="l">
              <a:spcAft>
                <a:spcPts val="400"/>
              </a:spcAft>
            </a:pPr>
            <a:r>
              <a:rPr sz="1300" b="1">
                <a:solidFill>
                  <a:srgbClr val="1F2A37"/>
                </a:solidFill>
                <a:latin typeface="Calibri"/>
              </a:rPr>
              <a:t>Plain-language model explanation</a:t>
            </a:r>
          </a:p>
          <a:p>
            <a:pPr algn="l">
              <a:spcAft>
                <a:spcPts val="400"/>
              </a:spcAft>
            </a:pPr>
            <a:r>
              <a:rPr sz="1300" b="0">
                <a:solidFill>
                  <a:srgbClr val="1F2A37"/>
                </a:solidFill>
                <a:latin typeface="Calibri"/>
              </a:rPr>
              <a:t>Every scheduled referral or follow-up visit is looked at 24–72 hours before the appointment. The model estimates the chance that the patient will not come, using only facts known at booking time: how far ahead the visit was booked, the patient's own attendance history, age, chronic conditions and welfare enrolment.</a:t>
            </a:r>
          </a:p>
          <a:p>
            <a:pPr algn="l">
              <a:spcAft>
                <a:spcPts val="400"/>
              </a:spcAft>
            </a:pPr>
            <a:r>
              <a:rPr sz="1300" b="0">
                <a:solidFill>
                  <a:srgbClr val="1F2A37"/>
                </a:solidFill>
                <a:latin typeface="Calibri"/>
              </a:rPr>
              <a:t>It learned these patterns from 77,000 past appointments and was checked on 16,000 appointments it had never seen (16,520 in the test split). It then sorts appointments into Low, Medium and High risk tiers, and each tier maps to an outreach action from Module 1 (SMS → SMS + call → call + community health worker).</a:t>
            </a:r>
          </a:p>
          <a:p>
            <a:pPr algn="l">
              <a:spcAft>
                <a:spcPts val="400"/>
              </a:spcAft>
            </a:pPr>
            <a:r>
              <a:rPr sz="1300" b="0">
                <a:solidFill>
                  <a:srgbClr val="1F2A37"/>
                </a:solidFill>
                <a:latin typeface="Calibri"/>
              </a:rPr>
              <a:t>The champion is a random forest model. Three algorithms were compared (logistic regression, random forest and gradient-boosted trees); the winner was chosen on a validation set, never on the test set. Every score comes with its reasons, so a coordinator sees why a call is suggested, not just a number.</a:t>
            </a:r>
          </a:p>
          <a:p>
            <a:pPr algn="l">
              <a:spcAft>
                <a:spcPts val="400"/>
              </a:spcAft>
            </a:pPr>
            <a:r>
              <a:rPr sz="1300" b="0">
                <a:solidFill>
                  <a:srgbClr val="1F2A37"/>
                </a:solidFill>
                <a:latin typeface="Calibri"/>
              </a:rPr>
              <a:t>What it does not use: gender, neighbourhood, whether an SMS was sent, and — after a necessity test — alcohol-use disorder and disability.</a:t>
            </a:r>
          </a:p>
        </p:txBody>
      </p:sp>
      <p:sp>
        <p:nvSpPr>
          <p:cNvPr id="24" name="Rectangle 23"/>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Think of it as a triage list for reminders: it ranks appointments by risk and says why, and people decide what to 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Key results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Champion: Random forest · Module 3 test split, 16,520 appointments the model never saw</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Results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5</a:t>
            </a:r>
          </a:p>
        </p:txBody>
      </p:sp>
      <p:sp>
        <p:nvSpPr>
          <p:cNvPr id="8" name="Rectangle 7"/>
          <p:cNvSpPr/>
          <p:nvPr/>
        </p:nvSpPr>
        <p:spPr>
          <a:xfrm>
            <a:off x="411480" y="1234440"/>
            <a:ext cx="26974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07592"/>
            <a:ext cx="2697480" cy="640080"/>
          </a:xfrm>
          <a:prstGeom prst="rect">
            <a:avLst/>
          </a:prstGeom>
          <a:noFill/>
        </p:spPr>
        <p:txBody>
          <a:bodyPr wrap="square" anchor="t" lIns="73152" rIns="73152" tIns="36576" bIns="36576">
            <a:spAutoFit/>
          </a:bodyPr>
          <a:lstStyle/>
          <a:p>
            <a:pPr algn="ctr">
              <a:spcAft>
                <a:spcPts val="400"/>
              </a:spcAft>
            </a:pPr>
            <a:r>
              <a:rPr sz="2800" b="1">
                <a:solidFill>
                  <a:srgbClr val="2E6B65"/>
                </a:solidFill>
                <a:latin typeface="Calibri"/>
              </a:rPr>
              <a:t>71%</a:t>
            </a:r>
          </a:p>
        </p:txBody>
      </p:sp>
      <p:sp>
        <p:nvSpPr>
          <p:cNvPr id="10" name="TextBox 9"/>
          <p:cNvSpPr txBox="1"/>
          <p:nvPr/>
        </p:nvSpPr>
        <p:spPr>
          <a:xfrm>
            <a:off x="457200" y="1965960"/>
            <a:ext cx="2606040" cy="100584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of no-shows caught (recall) — target ≥ 70%</a:t>
            </a:r>
          </a:p>
        </p:txBody>
      </p:sp>
      <p:sp>
        <p:nvSpPr>
          <p:cNvPr id="11" name="Rectangle 10"/>
          <p:cNvSpPr/>
          <p:nvPr/>
        </p:nvSpPr>
        <p:spPr>
          <a:xfrm>
            <a:off x="3291840" y="1234440"/>
            <a:ext cx="26974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307592"/>
            <a:ext cx="269748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43%</a:t>
            </a:r>
          </a:p>
        </p:txBody>
      </p:sp>
      <p:sp>
        <p:nvSpPr>
          <p:cNvPr id="13" name="TextBox 12"/>
          <p:cNvSpPr txBox="1"/>
          <p:nvPr/>
        </p:nvSpPr>
        <p:spPr>
          <a:xfrm>
            <a:off x="3337560" y="1965960"/>
            <a:ext cx="2606040" cy="100584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of appointments flagged for extra outreach (workload)</a:t>
            </a:r>
          </a:p>
        </p:txBody>
      </p:sp>
      <p:sp>
        <p:nvSpPr>
          <p:cNvPr id="14" name="Rectangle 13"/>
          <p:cNvSpPr/>
          <p:nvPr/>
        </p:nvSpPr>
        <p:spPr>
          <a:xfrm>
            <a:off x="6172200" y="1234440"/>
            <a:ext cx="26974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307592"/>
            <a:ext cx="269748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33%</a:t>
            </a:r>
          </a:p>
        </p:txBody>
      </p:sp>
      <p:sp>
        <p:nvSpPr>
          <p:cNvPr id="16" name="TextBox 15"/>
          <p:cNvSpPr txBox="1"/>
          <p:nvPr/>
        </p:nvSpPr>
        <p:spPr>
          <a:xfrm>
            <a:off x="6217920" y="1965960"/>
            <a:ext cx="2606040" cy="100584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of flagged appointments are real no-shows (base rate 20%)</a:t>
            </a:r>
          </a:p>
        </p:txBody>
      </p:sp>
      <p:sp>
        <p:nvSpPr>
          <p:cNvPr id="17" name="Rectangle 16"/>
          <p:cNvSpPr/>
          <p:nvPr/>
        </p:nvSpPr>
        <p:spPr>
          <a:xfrm>
            <a:off x="9052560" y="1234440"/>
            <a:ext cx="26974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307592"/>
            <a:ext cx="2697480" cy="640080"/>
          </a:xfrm>
          <a:prstGeom prst="rect">
            <a:avLst/>
          </a:prstGeom>
          <a:noFill/>
        </p:spPr>
        <p:txBody>
          <a:bodyPr wrap="square" anchor="t" lIns="73152" rIns="73152" tIns="36576" bIns="36576">
            <a:spAutoFit/>
          </a:bodyPr>
          <a:lstStyle/>
          <a:p>
            <a:pPr algn="ctr">
              <a:spcAft>
                <a:spcPts val="400"/>
              </a:spcAft>
            </a:pPr>
            <a:r>
              <a:rPr sz="2800" b="1">
                <a:solidFill>
                  <a:srgbClr val="1F3B57"/>
                </a:solidFill>
                <a:latin typeface="Calibri"/>
              </a:rPr>
              <a:t>0.74</a:t>
            </a:r>
          </a:p>
        </p:txBody>
      </p:sp>
      <p:sp>
        <p:nvSpPr>
          <p:cNvPr id="19" name="TextBox 18"/>
          <p:cNvSpPr txBox="1"/>
          <p:nvPr/>
        </p:nvSpPr>
        <p:spPr>
          <a:xfrm>
            <a:off x="9098280" y="1965960"/>
            <a:ext cx="2606040" cy="1005840"/>
          </a:xfrm>
          <a:prstGeom prst="rect">
            <a:avLst/>
          </a:prstGeom>
          <a:noFill/>
        </p:spPr>
        <p:txBody>
          <a:bodyPr wrap="square" anchor="t" lIns="73152" rIns="73152" tIns="36576" bIns="36576">
            <a:spAutoFit/>
          </a:bodyPr>
          <a:lstStyle/>
          <a:p>
            <a:pPr algn="ctr">
              <a:spcAft>
                <a:spcPts val="400"/>
              </a:spcAft>
            </a:pPr>
            <a:r>
              <a:rPr sz="1100" b="0">
                <a:solidFill>
                  <a:srgbClr val="1F2A37"/>
                </a:solidFill>
                <a:latin typeface="Calibri"/>
              </a:rPr>
              <a:t>ranking quality (ROC-AUC) vs 0.71 for a simple lead-time rule</a:t>
            </a:r>
          </a:p>
        </p:txBody>
      </p:sp>
      <p:sp>
        <p:nvSpPr>
          <p:cNvPr id="20" name="TextBox 19"/>
          <p:cNvSpPr txBox="1"/>
          <p:nvPr/>
        </p:nvSpPr>
        <p:spPr>
          <a:xfrm>
            <a:off x="411480" y="3200400"/>
            <a:ext cx="11338560" cy="2377440"/>
          </a:xfrm>
          <a:prstGeom prst="rect">
            <a:avLst/>
          </a:prstGeom>
          <a:noFill/>
        </p:spPr>
        <p:txBody>
          <a:bodyPr wrap="square" anchor="t" lIns="73152" rIns="73152" tIns="36576" bIns="36576">
            <a:spAutoFit/>
          </a:bodyPr>
          <a:lstStyle/>
          <a:p>
            <a:pPr algn="l">
              <a:spcAft>
                <a:spcPts val="400"/>
              </a:spcAft>
            </a:pPr>
            <a:r>
              <a:rPr sz="1300" b="1">
                <a:solidFill>
                  <a:srgbClr val="1F2A37"/>
                </a:solidFill>
                <a:latin typeface="Calibri"/>
              </a:rPr>
              <a:t>What the numbers mean</a:t>
            </a:r>
          </a:p>
          <a:p>
            <a:pPr algn="l">
              <a:spcAft>
                <a:spcPts val="400"/>
              </a:spcAft>
            </a:pPr>
            <a:r>
              <a:rPr sz="1300" b="0">
                <a:solidFill>
                  <a:srgbClr val="1F2A37"/>
                </a:solidFill>
                <a:latin typeface="Calibri"/>
              </a:rPr>
              <a:t>At the operating threshold the model finds about 71% of the patients who will not come, by flagging roughly 43% of appointments. Most flagged patients would still have attended — that is the price of catching the ones who would not, and the cost of a false flag is one reminder.</a:t>
            </a:r>
          </a:p>
          <a:p>
            <a:pPr algn="l">
              <a:spcAft>
                <a:spcPts val="400"/>
              </a:spcAft>
            </a:pPr>
            <a:r>
              <a:rPr sz="1300" b="0">
                <a:solidFill>
                  <a:srgbClr val="1F2A37"/>
                </a:solidFill>
                <a:latin typeface="Calibri"/>
              </a:rPr>
              <a:t>A rule a scheduler could apply by hand (flag if days booked ahead &gt;= 5) reaches 72% recall with precision 31%; the model improves ranking quality by +0.032 ROC-AUC and precision by +2.0% points at the same recall target.</a:t>
            </a:r>
          </a:p>
          <a:p>
            <a:pPr algn="l">
              <a:spcAft>
                <a:spcPts val="400"/>
              </a:spcAft>
            </a:pPr>
            <a:r>
              <a:rPr sz="1300" b="0">
                <a:solidFill>
                  <a:srgbClr val="1F2A37"/>
                </a:solidFill>
                <a:latin typeface="Calibri"/>
              </a:rPr>
              <a:t>All three algorithms landed within a few points of each other, which means the signal is in the data, not in a clever model.</a:t>
            </a:r>
          </a:p>
        </p:txBody>
      </p:sp>
      <p:sp>
        <p:nvSpPr>
          <p:cNvPr id="21" name="Rectangle 20"/>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The model meets the 70 % recall target on unseen patients; its gain over a simple rule is real but modest — honesty about that is part of the 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Visual summary of results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Each chart carries one message</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Results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6</a:t>
            </a:r>
          </a:p>
        </p:txBody>
      </p:sp>
      <p:pic>
        <p:nvPicPr>
          <p:cNvPr id="8" name="Picture 7" descr="workload.png"/>
          <p:cNvPicPr>
            <a:picLocks noChangeAspect="1"/>
          </p:cNvPicPr>
          <p:nvPr/>
        </p:nvPicPr>
        <p:blipFill>
          <a:blip r:embed="rId2"/>
          <a:stretch>
            <a:fillRect/>
          </a:stretch>
        </p:blipFill>
        <p:spPr>
          <a:xfrm>
            <a:off x="411480" y="1188720"/>
            <a:ext cx="5760720" cy="2457907"/>
          </a:xfrm>
          <a:prstGeom prst="rect">
            <a:avLst/>
          </a:prstGeom>
        </p:spPr>
      </p:pic>
      <p:sp>
        <p:nvSpPr>
          <p:cNvPr id="9" name="TextBox 8"/>
          <p:cNvSpPr txBox="1"/>
          <p:nvPr/>
        </p:nvSpPr>
        <p:spPr>
          <a:xfrm>
            <a:off x="411480" y="3703320"/>
            <a:ext cx="5760720" cy="457200"/>
          </a:xfrm>
          <a:prstGeom prst="rect">
            <a:avLst/>
          </a:prstGeom>
          <a:noFill/>
        </p:spPr>
        <p:txBody>
          <a:bodyPr wrap="square" anchor="t" lIns="73152" rIns="73152" tIns="36576" bIns="36576">
            <a:spAutoFit/>
          </a:bodyPr>
          <a:lstStyle/>
          <a:p>
            <a:pPr algn="l">
              <a:spcAft>
                <a:spcPts val="400"/>
              </a:spcAft>
            </a:pPr>
            <a:r>
              <a:rPr sz="1100" b="0">
                <a:solidFill>
                  <a:srgbClr val="8A8F98"/>
                </a:solidFill>
                <a:latin typeface="Calibri"/>
              </a:rPr>
              <a:t>What 1,000 scheduled appointments look like with the model</a:t>
            </a:r>
          </a:p>
        </p:txBody>
      </p:sp>
      <p:pic>
        <p:nvPicPr>
          <p:cNvPr id="10" name="Picture 9" descr="models.png"/>
          <p:cNvPicPr>
            <a:picLocks noChangeAspect="1"/>
          </p:cNvPicPr>
          <p:nvPr/>
        </p:nvPicPr>
        <p:blipFill>
          <a:blip r:embed="rId3"/>
          <a:stretch>
            <a:fillRect/>
          </a:stretch>
        </p:blipFill>
        <p:spPr>
          <a:xfrm>
            <a:off x="6309360" y="1188720"/>
            <a:ext cx="5486400" cy="2072640"/>
          </a:xfrm>
          <a:prstGeom prst="rect">
            <a:avLst/>
          </a:prstGeom>
        </p:spPr>
      </p:pic>
      <p:sp>
        <p:nvSpPr>
          <p:cNvPr id="11" name="TextBox 10"/>
          <p:cNvSpPr txBox="1"/>
          <p:nvPr/>
        </p:nvSpPr>
        <p:spPr>
          <a:xfrm>
            <a:off x="6309360" y="3337560"/>
            <a:ext cx="5486400" cy="457200"/>
          </a:xfrm>
          <a:prstGeom prst="rect">
            <a:avLst/>
          </a:prstGeom>
          <a:noFill/>
        </p:spPr>
        <p:txBody>
          <a:bodyPr wrap="square" anchor="t" lIns="73152" rIns="73152" tIns="36576" bIns="36576">
            <a:spAutoFit/>
          </a:bodyPr>
          <a:lstStyle/>
          <a:p>
            <a:pPr algn="l">
              <a:spcAft>
                <a:spcPts val="400"/>
              </a:spcAft>
            </a:pPr>
            <a:r>
              <a:rPr sz="1100" b="0">
                <a:solidFill>
                  <a:srgbClr val="8A8F98"/>
                </a:solidFill>
                <a:latin typeface="Calibri"/>
              </a:rPr>
              <a:t>Rule vs three models; the champion is highlighted</a:t>
            </a:r>
          </a:p>
        </p:txBody>
      </p:sp>
      <p:pic>
        <p:nvPicPr>
          <p:cNvPr id="12" name="Picture 11" descr="confusion_champion.png"/>
          <p:cNvPicPr>
            <a:picLocks noChangeAspect="1"/>
          </p:cNvPicPr>
          <p:nvPr/>
        </p:nvPicPr>
        <p:blipFill>
          <a:blip r:embed="rId4"/>
          <a:stretch>
            <a:fillRect/>
          </a:stretch>
        </p:blipFill>
        <p:spPr>
          <a:xfrm>
            <a:off x="411480" y="4023360"/>
            <a:ext cx="1869707" cy="1691640"/>
          </a:xfrm>
          <a:prstGeom prst="rect">
            <a:avLst/>
          </a:prstGeom>
        </p:spPr>
      </p:pic>
      <p:sp>
        <p:nvSpPr>
          <p:cNvPr id="13" name="TextBox 12"/>
          <p:cNvSpPr txBox="1"/>
          <p:nvPr/>
        </p:nvSpPr>
        <p:spPr>
          <a:xfrm>
            <a:off x="2514600" y="4114800"/>
            <a:ext cx="3657600" cy="146304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Test-split counts at the operating threshold:</a:t>
            </a:r>
          </a:p>
          <a:p>
            <a:pPr algn="l">
              <a:spcAft>
                <a:spcPts val="400"/>
              </a:spcAft>
            </a:pPr>
            <a:r>
              <a:rPr sz="1100" b="0">
                <a:solidFill>
                  <a:srgbClr val="1F2A37"/>
                </a:solidFill>
                <a:latin typeface="Calibri"/>
              </a:rPr>
              <a:t>caught no-shows 2,394 · missed 956</a:t>
            </a:r>
          </a:p>
          <a:p>
            <a:pPr algn="l">
              <a:spcAft>
                <a:spcPts val="400"/>
              </a:spcAft>
            </a:pPr>
            <a:r>
              <a:rPr sz="1100" b="0">
                <a:solidFill>
                  <a:srgbClr val="1F2A37"/>
                </a:solidFill>
                <a:latin typeface="Calibri"/>
              </a:rPr>
              <a:t>flagged but attended 4,784 · correctly not flagged 8,386</a:t>
            </a:r>
          </a:p>
        </p:txBody>
      </p:sp>
      <p:pic>
        <p:nvPicPr>
          <p:cNvPr id="14" name="Picture 13" descr="calibration_champion.png"/>
          <p:cNvPicPr>
            <a:picLocks noChangeAspect="1"/>
          </p:cNvPicPr>
          <p:nvPr/>
        </p:nvPicPr>
        <p:blipFill>
          <a:blip r:embed="rId5"/>
          <a:stretch>
            <a:fillRect/>
          </a:stretch>
        </p:blipFill>
        <p:spPr>
          <a:xfrm>
            <a:off x="6309360" y="3840480"/>
            <a:ext cx="2117558" cy="1828800"/>
          </a:xfrm>
          <a:prstGeom prst="rect">
            <a:avLst/>
          </a:prstGeom>
        </p:spPr>
      </p:pic>
      <p:sp>
        <p:nvSpPr>
          <p:cNvPr id="15" name="TextBox 14"/>
          <p:cNvSpPr txBox="1"/>
          <p:nvPr/>
        </p:nvSpPr>
        <p:spPr>
          <a:xfrm>
            <a:off x="8595360" y="4114800"/>
            <a:ext cx="3200400" cy="146304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Calibration: when the model says 40 %, about 40 % of those patients actually miss — so tiers can be read as probabilities.</a:t>
            </a:r>
          </a:p>
        </p:txBody>
      </p:sp>
      <p:sp>
        <p:nvSpPr>
          <p:cNvPr id="16" name="Rectangle 15"/>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Per 1,000 appointments: a few hundred calls to reach most of the no-shows. The charts are the evidence; the dashboard lets you move the threshold yourself.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What drives a prediction</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SHAP explanations translated into business language (Module 4)</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Explainability</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7</a:t>
            </a:r>
          </a:p>
        </p:txBody>
      </p:sp>
      <p:pic>
        <p:nvPicPr>
          <p:cNvPr id="8" name="Picture 7" descr="shap.png"/>
          <p:cNvPicPr>
            <a:picLocks noChangeAspect="1"/>
          </p:cNvPicPr>
          <p:nvPr/>
        </p:nvPicPr>
        <p:blipFill>
          <a:blip r:embed="rId2"/>
          <a:stretch>
            <a:fillRect/>
          </a:stretch>
        </p:blipFill>
        <p:spPr>
          <a:xfrm>
            <a:off x="411480" y="1188720"/>
            <a:ext cx="5852160" cy="2809037"/>
          </a:xfrm>
          <a:prstGeom prst="rect">
            <a:avLst/>
          </a:prstGeom>
        </p:spPr>
      </p:pic>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The three strongest drivers: lead time (days booked ahead), same-day appointment, patient age</a:t>
            </a:r>
          </a:p>
          <a:p>
            <a:pPr algn="l">
              <a:spcAft>
                <a:spcPts val="400"/>
              </a:spcAft>
            </a:pPr>
            <a:r>
              <a:rPr sz="1200" b="0">
                <a:solidFill>
                  <a:srgbClr val="1F2A37"/>
                </a:solidFill>
                <a:latin typeface="Calibri"/>
              </a:rPr>
              <a:t>Days booked ahead — the longer the gap between booking and visit, the more time for travel money, transport or family arrangements to fall through. Same-day bookings are rarely missed.</a:t>
            </a:r>
          </a:p>
          <a:p>
            <a:pPr algn="l">
              <a:spcAft>
                <a:spcPts val="400"/>
              </a:spcAft>
            </a:pPr>
            <a:r>
              <a:rPr sz="1200" b="0">
                <a:solidFill>
                  <a:srgbClr val="1F2A37"/>
                </a:solidFill>
                <a:latin typeface="Calibri"/>
              </a:rPr>
              <a:t>Attendance history — a patient who has missed before is more likely to miss again. A first visit has no history, so the model leans on the booking pattern.</a:t>
            </a:r>
          </a:p>
          <a:p>
            <a:pPr algn="l">
              <a:spcAft>
                <a:spcPts val="400"/>
              </a:spcAft>
            </a:pPr>
            <a:r>
              <a:rPr sz="1200" b="0">
                <a:solidFill>
                  <a:srgbClr val="1F2A37"/>
                </a:solidFill>
                <a:latin typeface="Calibri"/>
              </a:rPr>
              <a:t>Age — adolescents and young adults miss more often; older patients with chronic follow-up attend more reliably.</a:t>
            </a:r>
          </a:p>
          <a:p>
            <a:pPr algn="l">
              <a:spcAft>
                <a:spcPts val="400"/>
              </a:spcAft>
            </a:pPr>
            <a:r>
              <a:rPr sz="1200" b="0">
                <a:solidFill>
                  <a:srgbClr val="1F2A37"/>
                </a:solidFill>
                <a:latin typeface="Calibri"/>
              </a:rPr>
              <a:t>Chronic conditions and welfare enrolment play smaller roles: chronic follow-up creates routine; welfare enrolment signals cost barriers.</a:t>
            </a:r>
          </a:p>
          <a:p>
            <a:pPr algn="l">
              <a:spcAft>
                <a:spcPts val="400"/>
              </a:spcAft>
            </a:pPr>
            <a:r>
              <a:rPr sz="1200" b="1">
                <a:solidFill>
                  <a:srgbClr val="1F2A37"/>
                </a:solidFill>
                <a:latin typeface="Calibri"/>
              </a:rPr>
              <a:t>What is deliberately absent</a:t>
            </a:r>
          </a:p>
          <a:p>
            <a:pPr algn="l">
              <a:spcAft>
                <a:spcPts val="400"/>
              </a:spcAft>
            </a:pPr>
            <a:r>
              <a:rPr sz="1200" b="0">
                <a:solidFill>
                  <a:srgbClr val="1F2A37"/>
                </a:solidFill>
                <a:latin typeface="Calibri"/>
              </a:rPr>
              <a:t>Gender, neighbourhood and whether an SMS was sent are not inputs; alcohol-use disorder and disability were tested and dropped because they added nothing (Δ PR-AUC +0.0014, +0.0001).</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No-show risk is mostly about the circumstances of the booking, not the diagnosis — which is good news, because booking circumstances can be changed.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Three appointments, explained</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Illustrative cases scored with the serialised Module 4 model; names are invented</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Explainability</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8</a:t>
            </a:r>
          </a:p>
        </p:txBody>
      </p:sp>
      <p:graphicFrame>
        <p:nvGraphicFramePr>
          <p:cNvPr id="8" name="Table 7"/>
          <p:cNvGraphicFramePr>
            <a:graphicFrameLocks noGrp="1"/>
          </p:cNvGraphicFramePr>
          <p:nvPr/>
        </p:nvGraphicFramePr>
        <p:xfrm>
          <a:off x="411480" y="1188720"/>
          <a:ext cx="11338560" cy="2743200"/>
        </p:xfrm>
        <a:graphic>
          <a:graphicData uri="http://schemas.openxmlformats.org/drawingml/2006/table">
            <a:tbl>
              <a:tblPr firstRow="1" bandRow="1">
                <a:tableStyleId>{5C22544A-7EE6-4342-B048-85BDC9FD1C3A}</a:tableStyleId>
              </a:tblPr>
              <a:tblGrid>
                <a:gridCol w="914400"/>
                <a:gridCol w="4206240"/>
                <a:gridCol w="1188720"/>
                <a:gridCol w="914400"/>
                <a:gridCol w="4114800"/>
              </a:tblGrid>
              <a:tr h="685800">
                <a:tc>
                  <a:txBody>
                    <a:bodyPr/>
                    <a:lstStyle/>
                    <a:p>
                      <a:r>
                        <a:rPr sz="1100" b="1">
                          <a:solidFill>
                            <a:srgbClr val="FFFFFF"/>
                          </a:solidFill>
                          <a:latin typeface="Calibri"/>
                        </a:rPr>
                        <a:t>Case</a:t>
                      </a:r>
                    </a:p>
                  </a:txBody>
                  <a:tcPr marL="54864" marR="54864" marT="27432" marB="27432">
                    <a:solidFill>
                      <a:srgbClr val="1F3B57"/>
                    </a:solidFill>
                  </a:tcPr>
                </a:tc>
                <a:tc>
                  <a:txBody>
                    <a:bodyPr/>
                    <a:lstStyle/>
                    <a:p>
                      <a:r>
                        <a:rPr sz="1100" b="1">
                          <a:solidFill>
                            <a:srgbClr val="FFFFFF"/>
                          </a:solidFill>
                          <a:latin typeface="Calibri"/>
                        </a:rPr>
                        <a:t>Appointment</a:t>
                      </a:r>
                    </a:p>
                  </a:txBody>
                  <a:tcPr marL="54864" marR="54864" marT="27432" marB="27432">
                    <a:solidFill>
                      <a:srgbClr val="1F3B57"/>
                    </a:solidFill>
                  </a:tcPr>
                </a:tc>
                <a:tc>
                  <a:txBody>
                    <a:bodyPr/>
                    <a:lstStyle/>
                    <a:p>
                      <a:r>
                        <a:rPr sz="1100" b="1">
                          <a:solidFill>
                            <a:srgbClr val="FFFFFF"/>
                          </a:solidFill>
                          <a:latin typeface="Calibri"/>
                        </a:rPr>
                        <a:t>Predicted risk</a:t>
                      </a:r>
                    </a:p>
                  </a:txBody>
                  <a:tcPr marL="54864" marR="54864" marT="27432" marB="27432">
                    <a:solidFill>
                      <a:srgbClr val="1F3B57"/>
                    </a:solidFill>
                  </a:tcPr>
                </a:tc>
                <a:tc>
                  <a:txBody>
                    <a:bodyPr/>
                    <a:lstStyle/>
                    <a:p>
                      <a:r>
                        <a:rPr sz="1100" b="1">
                          <a:solidFill>
                            <a:srgbClr val="FFFFFF"/>
                          </a:solidFill>
                          <a:latin typeface="Calibri"/>
                        </a:rPr>
                        <a:t>Tier</a:t>
                      </a:r>
                    </a:p>
                  </a:txBody>
                  <a:tcPr marL="54864" marR="54864" marT="27432" marB="27432">
                    <a:solidFill>
                      <a:srgbClr val="1F3B57"/>
                    </a:solidFill>
                  </a:tcPr>
                </a:tc>
                <a:tc>
                  <a:txBody>
                    <a:bodyPr/>
                    <a:lstStyle/>
                    <a:p>
                      <a:r>
                        <a:rPr sz="1100" b="1">
                          <a:solidFill>
                            <a:srgbClr val="FFFFFF"/>
                          </a:solidFill>
                          <a:latin typeface="Calibri"/>
                        </a:rPr>
                        <a:t>Main reasons (reason codes)</a:t>
                      </a:r>
                    </a:p>
                  </a:txBody>
                  <a:tcPr marL="54864" marR="54864" marT="27432" marB="27432">
                    <a:solidFill>
                      <a:srgbClr val="1F3B57"/>
                    </a:solidFill>
                  </a:tcPr>
                </a:tc>
              </a:tr>
              <a:tr h="685800">
                <a:tc>
                  <a:txBody>
                    <a:bodyPr/>
                    <a:lstStyle/>
                    <a:p>
                      <a:r>
                        <a:rPr sz="1100">
                          <a:solidFill>
                            <a:srgbClr val="1F2A37"/>
                          </a:solidFill>
                          <a:latin typeface="Calibri"/>
                        </a:rPr>
                        <a:t>Amina</a:t>
                      </a:r>
                    </a:p>
                  </a:txBody>
                  <a:tcPr marL="54864" marR="54864" marT="27432" marB="27432">
                    <a:solidFill>
                      <a:srgbClr val="F3F6F8"/>
                    </a:solidFill>
                  </a:tcPr>
                </a:tc>
                <a:tc>
                  <a:txBody>
                    <a:bodyPr/>
                    <a:lstStyle/>
                    <a:p>
                      <a:r>
                        <a:rPr sz="1100">
                          <a:solidFill>
                            <a:srgbClr val="1F2A37"/>
                          </a:solidFill>
                          <a:latin typeface="Calibri"/>
                        </a:rPr>
                        <a:t>27 years old, booked 21 days ahead, 3 earlier visits of which 1 missed, welfare-enrolled</a:t>
                      </a:r>
                    </a:p>
                  </a:txBody>
                  <a:tcPr marL="54864" marR="54864" marT="27432" marB="27432">
                    <a:solidFill>
                      <a:srgbClr val="F3F6F8"/>
                    </a:solidFill>
                  </a:tcPr>
                </a:tc>
                <a:tc>
                  <a:txBody>
                    <a:bodyPr/>
                    <a:lstStyle/>
                    <a:p>
                      <a:r>
                        <a:rPr sz="1100">
                          <a:solidFill>
                            <a:srgbClr val="1F2A37"/>
                          </a:solidFill>
                          <a:latin typeface="Calibri"/>
                        </a:rPr>
                        <a:t>76%</a:t>
                      </a:r>
                    </a:p>
                  </a:txBody>
                  <a:tcPr marL="54864" marR="54864" marT="27432" marB="27432">
                    <a:solidFill>
                      <a:srgbClr val="F3F6F8"/>
                    </a:solidFill>
                  </a:tcPr>
                </a:tc>
                <a:tc>
                  <a:txBody>
                    <a:bodyPr/>
                    <a:lstStyle/>
                    <a:p>
                      <a:r>
                        <a:rPr sz="1100">
                          <a:solidFill>
                            <a:srgbClr val="1F2A37"/>
                          </a:solidFill>
                          <a:latin typeface="Calibri"/>
                        </a:rPr>
                        <a:t>High</a:t>
                      </a:r>
                    </a:p>
                  </a:txBody>
                  <a:tcPr marL="54864" marR="54864" marT="27432" marB="27432">
                    <a:solidFill>
                      <a:srgbClr val="F3F6F8"/>
                    </a:solidFill>
                  </a:tcPr>
                </a:tc>
                <a:tc>
                  <a:txBody>
                    <a:bodyPr/>
                    <a:lstStyle/>
                    <a:p>
                      <a:r>
                        <a:rPr sz="1100">
                          <a:solidFill>
                            <a:srgbClr val="1F2A37"/>
                          </a:solidFill>
                          <a:latin typeface="Calibri"/>
                        </a:rPr>
                        <a:t>long lead time (raises risk); missed visits before (raises risk)</a:t>
                      </a:r>
                    </a:p>
                  </a:txBody>
                  <a:tcPr marL="54864" marR="54864" marT="27432" marB="27432">
                    <a:solidFill>
                      <a:srgbClr val="F3F6F8"/>
                    </a:solidFill>
                  </a:tcPr>
                </a:tc>
              </a:tr>
              <a:tr h="685800">
                <a:tc>
                  <a:txBody>
                    <a:bodyPr/>
                    <a:lstStyle/>
                    <a:p>
                      <a:r>
                        <a:rPr sz="1100">
                          <a:solidFill>
                            <a:srgbClr val="1F2A37"/>
                          </a:solidFill>
                          <a:latin typeface="Calibri"/>
                        </a:rPr>
                        <a:t>Hassan</a:t>
                      </a:r>
                    </a:p>
                  </a:txBody>
                  <a:tcPr marL="54864" marR="54864" marT="27432" marB="27432">
                    <a:solidFill>
                      <a:srgbClr val="FFFFFF"/>
                    </a:solidFill>
                  </a:tcPr>
                </a:tc>
                <a:tc>
                  <a:txBody>
                    <a:bodyPr/>
                    <a:lstStyle/>
                    <a:p>
                      <a:r>
                        <a:rPr sz="1100">
                          <a:solidFill>
                            <a:srgbClr val="1F2A37"/>
                          </a:solidFill>
                          <a:latin typeface="Calibri"/>
                        </a:rPr>
                        <a:t>64 years old with hypertension and diabetes, booked 2 days ahead, 6 earlier visits all attended</a:t>
                      </a:r>
                    </a:p>
                  </a:txBody>
                  <a:tcPr marL="54864" marR="54864" marT="27432" marB="27432">
                    <a:solidFill>
                      <a:srgbClr val="FFFFFF"/>
                    </a:solidFill>
                  </a:tcPr>
                </a:tc>
                <a:tc>
                  <a:txBody>
                    <a:bodyPr/>
                    <a:lstStyle/>
                    <a:p>
                      <a:r>
                        <a:rPr sz="1100">
                          <a:solidFill>
                            <a:srgbClr val="1F2A37"/>
                          </a:solidFill>
                          <a:latin typeface="Calibri"/>
                        </a:rPr>
                        <a:t>42%</a:t>
                      </a:r>
                    </a:p>
                  </a:txBody>
                  <a:tcPr marL="54864" marR="54864" marT="27432" marB="27432">
                    <a:solidFill>
                      <a:srgbClr val="FFFFFF"/>
                    </a:solidFill>
                  </a:tcPr>
                </a:tc>
                <a:tc>
                  <a:txBody>
                    <a:bodyPr/>
                    <a:lstStyle/>
                    <a:p>
                      <a:r>
                        <a:rPr sz="1100">
                          <a:solidFill>
                            <a:srgbClr val="1F2A37"/>
                          </a:solidFill>
                          <a:latin typeface="Calibri"/>
                        </a:rPr>
                        <a:t>Low</a:t>
                      </a:r>
                    </a:p>
                  </a:txBody>
                  <a:tcPr marL="54864" marR="54864" marT="27432" marB="27432">
                    <a:solidFill>
                      <a:srgbClr val="FFFFFF"/>
                    </a:solidFill>
                  </a:tcPr>
                </a:tc>
                <a:tc>
                  <a:txBody>
                    <a:bodyPr/>
                    <a:lstStyle/>
                    <a:p>
                      <a:r>
                        <a:rPr sz="1100">
                          <a:solidFill>
                            <a:srgbClr val="1F2A37"/>
                          </a:solidFill>
                          <a:latin typeface="Calibri"/>
                        </a:rPr>
                        <a:t>booked close to the visit (lowers risk); chronic follow-up (lowers risk)</a:t>
                      </a:r>
                    </a:p>
                  </a:txBody>
                  <a:tcPr marL="54864" marR="54864" marT="27432" marB="27432">
                    <a:solidFill>
                      <a:srgbClr val="FFFFFF"/>
                    </a:solidFill>
                  </a:tcPr>
                </a:tc>
              </a:tr>
              <a:tr h="685800">
                <a:tc>
                  <a:txBody>
                    <a:bodyPr/>
                    <a:lstStyle/>
                    <a:p>
                      <a:r>
                        <a:rPr sz="1100">
                          <a:solidFill>
                            <a:srgbClr val="1F2A37"/>
                          </a:solidFill>
                          <a:latin typeface="Calibri"/>
                        </a:rPr>
                        <a:t>Sahra</a:t>
                      </a:r>
                    </a:p>
                  </a:txBody>
                  <a:tcPr marL="54864" marR="54864" marT="27432" marB="27432">
                    <a:solidFill>
                      <a:srgbClr val="F3F6F8"/>
                    </a:solidFill>
                  </a:tcPr>
                </a:tc>
                <a:tc>
                  <a:txBody>
                    <a:bodyPr/>
                    <a:lstStyle/>
                    <a:p>
                      <a:r>
                        <a:rPr sz="1100">
                          <a:solidFill>
                            <a:srgbClr val="1F2A37"/>
                          </a:solidFill>
                          <a:latin typeface="Calibri"/>
                        </a:rPr>
                        <a:t>16 years old, first visit, booked 35 days ahead</a:t>
                      </a:r>
                    </a:p>
                  </a:txBody>
                  <a:tcPr marL="54864" marR="54864" marT="27432" marB="27432">
                    <a:solidFill>
                      <a:srgbClr val="F3F6F8"/>
                    </a:solidFill>
                  </a:tcPr>
                </a:tc>
                <a:tc>
                  <a:txBody>
                    <a:bodyPr/>
                    <a:lstStyle/>
                    <a:p>
                      <a:r>
                        <a:rPr sz="1100">
                          <a:solidFill>
                            <a:srgbClr val="1F2A37"/>
                          </a:solidFill>
                          <a:latin typeface="Calibri"/>
                        </a:rPr>
                        <a:t>70%</a:t>
                      </a:r>
                    </a:p>
                  </a:txBody>
                  <a:tcPr marL="54864" marR="54864" marT="27432" marB="27432">
                    <a:solidFill>
                      <a:srgbClr val="F3F6F8"/>
                    </a:solidFill>
                  </a:tcPr>
                </a:tc>
                <a:tc>
                  <a:txBody>
                    <a:bodyPr/>
                    <a:lstStyle/>
                    <a:p>
                      <a:r>
                        <a:rPr sz="1100">
                          <a:solidFill>
                            <a:srgbClr val="1F2A37"/>
                          </a:solidFill>
                          <a:latin typeface="Calibri"/>
                        </a:rPr>
                        <a:t>High</a:t>
                      </a:r>
                    </a:p>
                  </a:txBody>
                  <a:tcPr marL="54864" marR="54864" marT="27432" marB="27432">
                    <a:solidFill>
                      <a:srgbClr val="F3F6F8"/>
                    </a:solidFill>
                  </a:tcPr>
                </a:tc>
                <a:tc>
                  <a:txBody>
                    <a:bodyPr/>
                    <a:lstStyle/>
                    <a:p>
                      <a:r>
                        <a:rPr sz="1100">
                          <a:solidFill>
                            <a:srgbClr val="1F2A37"/>
                          </a:solidFill>
                          <a:latin typeface="Calibri"/>
                        </a:rPr>
                        <a:t>long lead time (raises risk); no attendance history (model relies on booking pattern)</a:t>
                      </a:r>
                    </a:p>
                  </a:txBody>
                  <a:tcPr marL="54864" marR="54864" marT="27432" marB="27432">
                    <a:solidFill>
                      <a:srgbClr val="F3F6F8"/>
                    </a:solidFill>
                  </a:tcPr>
                </a:tc>
              </a:tr>
            </a:tbl>
          </a:graphicData>
        </a:graphic>
      </p:graphicFrame>
      <p:sp>
        <p:nvSpPr>
          <p:cNvPr id="9" name="TextBox 8"/>
          <p:cNvSpPr txBox="1"/>
          <p:nvPr/>
        </p:nvSpPr>
        <p:spPr>
          <a:xfrm>
            <a:off x="411480" y="4572000"/>
            <a:ext cx="11338560" cy="1097280"/>
          </a:xfrm>
          <a:prstGeom prst="rect">
            <a:avLst/>
          </a:prstGeom>
          <a:noFill/>
        </p:spPr>
        <p:txBody>
          <a:bodyPr wrap="square" anchor="t" lIns="73152" rIns="73152" tIns="36576" bIns="36576">
            <a:spAutoFit/>
          </a:bodyPr>
          <a:lstStyle/>
          <a:p>
            <a:pPr algn="l">
              <a:spcAft>
                <a:spcPts val="400"/>
              </a:spcAft>
            </a:pPr>
            <a:r>
              <a:rPr sz="1200" b="0">
                <a:solidFill>
                  <a:srgbClr val="1F2A37"/>
                </a:solidFill>
                <a:latin typeface="Calibri"/>
              </a:rPr>
              <a:t>How a coordinator reads this: Amina is High risk (76%) mainly because of long lead time (raises risk) — the Module 1 rule suggests a call 48 h before and, if a slot is free, an earlier appointment. Hassan is Low risk (42%); a standard SMS is enough. The reasons are shown with every score in the API and the dashboard.</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A score always arrives with its reasons — a flag is a reason to reach out, never a judgement about the patient.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What-if: how changing the inputs changes the outcome</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Counterfactuals and threshold sensitivity (Module 4); live version on the dashboard</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What-if</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9</a:t>
            </a:r>
          </a:p>
        </p:txBody>
      </p:sp>
      <p:graphicFrame>
        <p:nvGraphicFramePr>
          <p:cNvPr id="8" name="Table 7"/>
          <p:cNvGraphicFramePr>
            <a:graphicFrameLocks noGrp="1"/>
          </p:cNvGraphicFramePr>
          <p:nvPr/>
        </p:nvGraphicFramePr>
        <p:xfrm>
          <a:off x="411480" y="1188720"/>
          <a:ext cx="5760720" cy="2194560"/>
        </p:xfrm>
        <a:graphic>
          <a:graphicData uri="http://schemas.openxmlformats.org/drawingml/2006/table">
            <a:tbl>
              <a:tblPr firstRow="1" bandRow="1">
                <a:tableStyleId>{5C22544A-7EE6-4342-B048-85BDC9FD1C3A}</a:tableStyleId>
              </a:tblPr>
              <a:tblGrid>
                <a:gridCol w="640080"/>
                <a:gridCol w="1188720"/>
                <a:gridCol w="822960"/>
                <a:gridCol w="2286000"/>
                <a:gridCol w="822960"/>
              </a:tblGrid>
              <a:tr h="365760">
                <a:tc>
                  <a:txBody>
                    <a:bodyPr/>
                    <a:lstStyle/>
                    <a:p>
                      <a:r>
                        <a:rPr sz="1000" b="1">
                          <a:solidFill>
                            <a:srgbClr val="FFFFFF"/>
                          </a:solidFill>
                          <a:latin typeface="Calibri"/>
                        </a:rPr>
                        <a:t>Age</a:t>
                      </a:r>
                    </a:p>
                  </a:txBody>
                  <a:tcPr marL="54864" marR="54864" marT="27432" marB="27432">
                    <a:solidFill>
                      <a:srgbClr val="1F3B57"/>
                    </a:solidFill>
                  </a:tcPr>
                </a:tc>
                <a:tc>
                  <a:txBody>
                    <a:bodyPr/>
                    <a:lstStyle/>
                    <a:p>
                      <a:r>
                        <a:rPr sz="1000" b="1">
                          <a:solidFill>
                            <a:srgbClr val="FFFFFF"/>
                          </a:solidFill>
                          <a:latin typeface="Calibri"/>
                        </a:rPr>
                        <a:t>Booked ahead</a:t>
                      </a:r>
                    </a:p>
                  </a:txBody>
                  <a:tcPr marL="54864" marR="54864" marT="27432" marB="27432">
                    <a:solidFill>
                      <a:srgbClr val="1F3B57"/>
                    </a:solidFill>
                  </a:tcPr>
                </a:tc>
                <a:tc>
                  <a:txBody>
                    <a:bodyPr/>
                    <a:lstStyle/>
                    <a:p>
                      <a:r>
                        <a:rPr sz="1000" b="1">
                          <a:solidFill>
                            <a:srgbClr val="FFFFFF"/>
                          </a:solidFill>
                          <a:latin typeface="Calibri"/>
                        </a:rPr>
                        <a:t>Risk</a:t>
                      </a:r>
                    </a:p>
                  </a:txBody>
                  <a:tcPr marL="54864" marR="54864" marT="27432" marB="27432">
                    <a:solidFill>
                      <a:srgbClr val="1F3B57"/>
                    </a:solidFill>
                  </a:tcPr>
                </a:tc>
                <a:tc>
                  <a:txBody>
                    <a:bodyPr/>
                    <a:lstStyle/>
                    <a:p>
                      <a:r>
                        <a:rPr sz="1000" b="1">
                          <a:solidFill>
                            <a:srgbClr val="FFFFFF"/>
                          </a:solidFill>
                          <a:latin typeface="Calibri"/>
                        </a:rPr>
                        <a:t>What would need to change</a:t>
                      </a:r>
                    </a:p>
                  </a:txBody>
                  <a:tcPr marL="54864" marR="54864" marT="27432" marB="27432">
                    <a:solidFill>
                      <a:srgbClr val="1F3B57"/>
                    </a:solidFill>
                  </a:tcPr>
                </a:tc>
                <a:tc>
                  <a:txBody>
                    <a:bodyPr/>
                    <a:lstStyle/>
                    <a:p>
                      <a:r>
                        <a:rPr sz="1000" b="1">
                          <a:solidFill>
                            <a:srgbClr val="FFFFFF"/>
                          </a:solidFill>
                          <a:latin typeface="Calibri"/>
                        </a:rPr>
                        <a:t>New risk</a:t>
                      </a:r>
                    </a:p>
                  </a:txBody>
                  <a:tcPr marL="54864" marR="54864" marT="27432" marB="27432">
                    <a:solidFill>
                      <a:srgbClr val="1F3B57"/>
                    </a:solidFill>
                  </a:tcPr>
                </a:tc>
              </a:tr>
              <a:tr h="365760">
                <a:tc>
                  <a:txBody>
                    <a:bodyPr/>
                    <a:lstStyle/>
                    <a:p>
                      <a:r>
                        <a:rPr sz="1000">
                          <a:solidFill>
                            <a:srgbClr val="1F2A37"/>
                          </a:solidFill>
                          <a:latin typeface="Calibri"/>
                        </a:rPr>
                        <a:t>4</a:t>
                      </a:r>
                    </a:p>
                  </a:txBody>
                  <a:tcPr marL="54864" marR="54864" marT="27432" marB="27432">
                    <a:solidFill>
                      <a:srgbClr val="F3F6F8"/>
                    </a:solidFill>
                  </a:tcPr>
                </a:tc>
                <a:tc>
                  <a:txBody>
                    <a:bodyPr/>
                    <a:lstStyle/>
                    <a:p>
                      <a:r>
                        <a:rPr sz="1000">
                          <a:solidFill>
                            <a:srgbClr val="1F2A37"/>
                          </a:solidFill>
                          <a:latin typeface="Calibri"/>
                        </a:rPr>
                        <a:t>31 days</a:t>
                      </a:r>
                    </a:p>
                  </a:txBody>
                  <a:tcPr marL="54864" marR="54864" marT="27432" marB="27432">
                    <a:solidFill>
                      <a:srgbClr val="F3F6F8"/>
                    </a:solidFill>
                  </a:tcPr>
                </a:tc>
                <a:tc>
                  <a:txBody>
                    <a:bodyPr/>
                    <a:lstStyle/>
                    <a:p>
                      <a:r>
                        <a:rPr sz="1000">
                          <a:solidFill>
                            <a:srgbClr val="1F2A37"/>
                          </a:solidFill>
                          <a:latin typeface="Calibri"/>
                        </a:rPr>
                        <a:t>69%</a:t>
                      </a:r>
                    </a:p>
                  </a:txBody>
                  <a:tcPr marL="54864" marR="54864" marT="27432" marB="27432">
                    <a:solidFill>
                      <a:srgbClr val="F3F6F8"/>
                    </a:solidFill>
                  </a:tcPr>
                </a:tc>
                <a:tc>
                  <a:txBody>
                    <a:bodyPr/>
                    <a:lstStyle/>
                    <a:p>
                      <a:r>
                        <a:rPr sz="1000">
                          <a:solidFill>
                            <a:srgbClr val="1F2A37"/>
                          </a:solidFill>
                          <a:latin typeface="Calibri"/>
                        </a:rPr>
                        <a:t>book 1 days ahead (Thursday)</a:t>
                      </a:r>
                    </a:p>
                  </a:txBody>
                  <a:tcPr marL="54864" marR="54864" marT="27432" marB="27432">
                    <a:solidFill>
                      <a:srgbClr val="F3F6F8"/>
                    </a:solidFill>
                  </a:tcPr>
                </a:tc>
                <a:tc>
                  <a:txBody>
                    <a:bodyPr/>
                    <a:lstStyle/>
                    <a:p>
                      <a:r>
                        <a:rPr sz="1000">
                          <a:solidFill>
                            <a:srgbClr val="1F2A37"/>
                          </a:solidFill>
                          <a:latin typeface="Calibri"/>
                        </a:rPr>
                        <a:t>55%</a:t>
                      </a:r>
                    </a:p>
                  </a:txBody>
                  <a:tcPr marL="54864" marR="54864" marT="27432" marB="27432">
                    <a:solidFill>
                      <a:srgbClr val="F3F6F8"/>
                    </a:solidFill>
                  </a:tcPr>
                </a:tc>
              </a:tr>
              <a:tr h="365760">
                <a:tc>
                  <a:txBody>
                    <a:bodyPr/>
                    <a:lstStyle/>
                    <a:p>
                      <a:r>
                        <a:rPr sz="1000">
                          <a:solidFill>
                            <a:srgbClr val="1F2A37"/>
                          </a:solidFill>
                          <a:latin typeface="Calibri"/>
                        </a:rPr>
                        <a:t>45</a:t>
                      </a:r>
                    </a:p>
                  </a:txBody>
                  <a:tcPr marL="54864" marR="54864" marT="27432" marB="27432">
                    <a:solidFill>
                      <a:srgbClr val="FFFFFF"/>
                    </a:solidFill>
                  </a:tcPr>
                </a:tc>
                <a:tc>
                  <a:txBody>
                    <a:bodyPr/>
                    <a:lstStyle/>
                    <a:p>
                      <a:r>
                        <a:rPr sz="1000">
                          <a:solidFill>
                            <a:srgbClr val="1F2A37"/>
                          </a:solidFill>
                          <a:latin typeface="Calibri"/>
                        </a:rPr>
                        <a:t>30 days</a:t>
                      </a:r>
                    </a:p>
                  </a:txBody>
                  <a:tcPr marL="54864" marR="54864" marT="27432" marB="27432">
                    <a:solidFill>
                      <a:srgbClr val="FFFFFF"/>
                    </a:solidFill>
                  </a:tcPr>
                </a:tc>
                <a:tc>
                  <a:txBody>
                    <a:bodyPr/>
                    <a:lstStyle/>
                    <a:p>
                      <a:r>
                        <a:rPr sz="1000">
                          <a:solidFill>
                            <a:srgbClr val="1F2A37"/>
                          </a:solidFill>
                          <a:latin typeface="Calibri"/>
                        </a:rPr>
                        <a:t>63%</a:t>
                      </a:r>
                    </a:p>
                  </a:txBody>
                  <a:tcPr marL="54864" marR="54864" marT="27432" marB="27432">
                    <a:solidFill>
                      <a:srgbClr val="FFFFFF"/>
                    </a:solidFill>
                  </a:tcPr>
                </a:tc>
                <a:tc>
                  <a:txBody>
                    <a:bodyPr/>
                    <a:lstStyle/>
                    <a:p>
                      <a:r>
                        <a:rPr sz="1000">
                          <a:solidFill>
                            <a:srgbClr val="1F2A37"/>
                          </a:solidFill>
                          <a:latin typeface="Calibri"/>
                        </a:rPr>
                        <a:t>book 0 days ahead (Wednesday)</a:t>
                      </a:r>
                    </a:p>
                  </a:txBody>
                  <a:tcPr marL="54864" marR="54864" marT="27432" marB="27432">
                    <a:solidFill>
                      <a:srgbClr val="FFFFFF"/>
                    </a:solidFill>
                  </a:tcPr>
                </a:tc>
                <a:tc>
                  <a:txBody>
                    <a:bodyPr/>
                    <a:lstStyle/>
                    <a:p>
                      <a:r>
                        <a:rPr sz="1000">
                          <a:solidFill>
                            <a:srgbClr val="1F2A37"/>
                          </a:solidFill>
                          <a:latin typeface="Calibri"/>
                        </a:rPr>
                        <a:t>12%</a:t>
                      </a:r>
                    </a:p>
                  </a:txBody>
                  <a:tcPr marL="54864" marR="54864" marT="27432" marB="27432">
                    <a:solidFill>
                      <a:srgbClr val="FFFFFF"/>
                    </a:solidFill>
                  </a:tcPr>
                </a:tc>
              </a:tr>
              <a:tr h="365760">
                <a:tc>
                  <a:txBody>
                    <a:bodyPr/>
                    <a:lstStyle/>
                    <a:p>
                      <a:r>
                        <a:rPr sz="1000">
                          <a:solidFill>
                            <a:srgbClr val="1F2A37"/>
                          </a:solidFill>
                          <a:latin typeface="Calibri"/>
                        </a:rPr>
                        <a:t>11</a:t>
                      </a:r>
                    </a:p>
                  </a:txBody>
                  <a:tcPr marL="54864" marR="54864" marT="27432" marB="27432">
                    <a:solidFill>
                      <a:srgbClr val="F3F6F8"/>
                    </a:solidFill>
                  </a:tcPr>
                </a:tc>
                <a:tc>
                  <a:txBody>
                    <a:bodyPr/>
                    <a:lstStyle/>
                    <a:p>
                      <a:r>
                        <a:rPr sz="1000">
                          <a:solidFill>
                            <a:srgbClr val="1F2A37"/>
                          </a:solidFill>
                          <a:latin typeface="Calibri"/>
                        </a:rPr>
                        <a:t>4 days</a:t>
                      </a:r>
                    </a:p>
                  </a:txBody>
                  <a:tcPr marL="54864" marR="54864" marT="27432" marB="27432">
                    <a:solidFill>
                      <a:srgbClr val="F3F6F8"/>
                    </a:solidFill>
                  </a:tcPr>
                </a:tc>
                <a:tc>
                  <a:txBody>
                    <a:bodyPr/>
                    <a:lstStyle/>
                    <a:p>
                      <a:r>
                        <a:rPr sz="1000">
                          <a:solidFill>
                            <a:srgbClr val="1F2A37"/>
                          </a:solidFill>
                          <a:latin typeface="Calibri"/>
                        </a:rPr>
                        <a:t>59%</a:t>
                      </a:r>
                    </a:p>
                  </a:txBody>
                  <a:tcPr marL="54864" marR="54864" marT="27432" marB="27432">
                    <a:solidFill>
                      <a:srgbClr val="F3F6F8"/>
                    </a:solidFill>
                  </a:tcPr>
                </a:tc>
                <a:tc>
                  <a:txBody>
                    <a:bodyPr/>
                    <a:lstStyle/>
                    <a:p>
                      <a:r>
                        <a:rPr sz="1000">
                          <a:solidFill>
                            <a:srgbClr val="1F2A37"/>
                          </a:solidFill>
                          <a:latin typeface="Calibri"/>
                        </a:rPr>
                        <a:t>book 1 days ahead (Tuesday)</a:t>
                      </a:r>
                    </a:p>
                  </a:txBody>
                  <a:tcPr marL="54864" marR="54864" marT="27432" marB="27432">
                    <a:solidFill>
                      <a:srgbClr val="F3F6F8"/>
                    </a:solidFill>
                  </a:tcPr>
                </a:tc>
                <a:tc>
                  <a:txBody>
                    <a:bodyPr/>
                    <a:lstStyle/>
                    <a:p>
                      <a:r>
                        <a:rPr sz="1000">
                          <a:solidFill>
                            <a:srgbClr val="1F2A37"/>
                          </a:solidFill>
                          <a:latin typeface="Calibri"/>
                        </a:rPr>
                        <a:t>55%</a:t>
                      </a:r>
                    </a:p>
                  </a:txBody>
                  <a:tcPr marL="54864" marR="54864" marT="27432" marB="27432">
                    <a:solidFill>
                      <a:srgbClr val="F3F6F8"/>
                    </a:solidFill>
                  </a:tcPr>
                </a:tc>
              </a:tr>
              <a:tr h="365760">
                <a:tc>
                  <a:txBody>
                    <a:bodyPr/>
                    <a:lstStyle/>
                    <a:p>
                      <a:r>
                        <a:rPr sz="1000">
                          <a:solidFill>
                            <a:srgbClr val="1F2A37"/>
                          </a:solidFill>
                          <a:latin typeface="Calibri"/>
                        </a:rPr>
                        <a:t>20</a:t>
                      </a:r>
                    </a:p>
                  </a:txBody>
                  <a:tcPr marL="54864" marR="54864" marT="27432" marB="27432">
                    <a:solidFill>
                      <a:srgbClr val="FFFFFF"/>
                    </a:solidFill>
                  </a:tcPr>
                </a:tc>
                <a:tc>
                  <a:txBody>
                    <a:bodyPr/>
                    <a:lstStyle/>
                    <a:p>
                      <a:r>
                        <a:rPr sz="1000">
                          <a:solidFill>
                            <a:srgbClr val="1F2A37"/>
                          </a:solidFill>
                          <a:latin typeface="Calibri"/>
                        </a:rPr>
                        <a:t>7 days</a:t>
                      </a:r>
                    </a:p>
                  </a:txBody>
                  <a:tcPr marL="54864" marR="54864" marT="27432" marB="27432">
                    <a:solidFill>
                      <a:srgbClr val="FFFFFF"/>
                    </a:solidFill>
                  </a:tcPr>
                </a:tc>
                <a:tc>
                  <a:txBody>
                    <a:bodyPr/>
                    <a:lstStyle/>
                    <a:p>
                      <a:r>
                        <a:rPr sz="1000">
                          <a:solidFill>
                            <a:srgbClr val="1F2A37"/>
                          </a:solidFill>
                          <a:latin typeface="Calibri"/>
                        </a:rPr>
                        <a:t>62%</a:t>
                      </a:r>
                    </a:p>
                  </a:txBody>
                  <a:tcPr marL="54864" marR="54864" marT="27432" marB="27432">
                    <a:solidFill>
                      <a:srgbClr val="FFFFFF"/>
                    </a:solidFill>
                  </a:tcPr>
                </a:tc>
                <a:tc>
                  <a:txBody>
                    <a:bodyPr/>
                    <a:lstStyle/>
                    <a:p>
                      <a:r>
                        <a:rPr sz="1000">
                          <a:solidFill>
                            <a:srgbClr val="1F2A37"/>
                          </a:solidFill>
                          <a:latin typeface="Calibri"/>
                        </a:rPr>
                        <a:t>book 1 days ahead (Wednesday)</a:t>
                      </a:r>
                    </a:p>
                  </a:txBody>
                  <a:tcPr marL="54864" marR="54864" marT="27432" marB="27432">
                    <a:solidFill>
                      <a:srgbClr val="FFFFFF"/>
                    </a:solidFill>
                  </a:tcPr>
                </a:tc>
                <a:tc>
                  <a:txBody>
                    <a:bodyPr/>
                    <a:lstStyle/>
                    <a:p>
                      <a:r>
                        <a:rPr sz="1000">
                          <a:solidFill>
                            <a:srgbClr val="1F2A37"/>
                          </a:solidFill>
                          <a:latin typeface="Calibri"/>
                        </a:rPr>
                        <a:t>55%</a:t>
                      </a:r>
                    </a:p>
                  </a:txBody>
                  <a:tcPr marL="54864" marR="54864" marT="27432" marB="27432">
                    <a:solidFill>
                      <a:srgbClr val="FFFFFF"/>
                    </a:solidFill>
                  </a:tcPr>
                </a:tc>
              </a:tr>
              <a:tr h="365760">
                <a:tc>
                  <a:txBody>
                    <a:bodyPr/>
                    <a:lstStyle/>
                    <a:p>
                      <a:r>
                        <a:rPr sz="1000">
                          <a:solidFill>
                            <a:srgbClr val="1F2A37"/>
                          </a:solidFill>
                          <a:latin typeface="Calibri"/>
                        </a:rPr>
                        <a:t>0</a:t>
                      </a:r>
                    </a:p>
                  </a:txBody>
                  <a:tcPr marL="54864" marR="54864" marT="27432" marB="27432">
                    <a:solidFill>
                      <a:srgbClr val="F3F6F8"/>
                    </a:solidFill>
                  </a:tcPr>
                </a:tc>
                <a:tc>
                  <a:txBody>
                    <a:bodyPr/>
                    <a:lstStyle/>
                    <a:p>
                      <a:r>
                        <a:rPr sz="1000">
                          <a:solidFill>
                            <a:srgbClr val="1F2A37"/>
                          </a:solidFill>
                          <a:latin typeface="Calibri"/>
                        </a:rPr>
                        <a:t>5 days</a:t>
                      </a:r>
                    </a:p>
                  </a:txBody>
                  <a:tcPr marL="54864" marR="54864" marT="27432" marB="27432">
                    <a:solidFill>
                      <a:srgbClr val="F3F6F8"/>
                    </a:solidFill>
                  </a:tcPr>
                </a:tc>
                <a:tc>
                  <a:txBody>
                    <a:bodyPr/>
                    <a:lstStyle/>
                    <a:p>
                      <a:r>
                        <a:rPr sz="1000">
                          <a:solidFill>
                            <a:srgbClr val="1F2A37"/>
                          </a:solidFill>
                          <a:latin typeface="Calibri"/>
                        </a:rPr>
                        <a:t>58%</a:t>
                      </a:r>
                    </a:p>
                  </a:txBody>
                  <a:tcPr marL="54864" marR="54864" marT="27432" marB="27432">
                    <a:solidFill>
                      <a:srgbClr val="F3F6F8"/>
                    </a:solidFill>
                  </a:tcPr>
                </a:tc>
                <a:tc>
                  <a:txBody>
                    <a:bodyPr/>
                    <a:lstStyle/>
                    <a:p>
                      <a:r>
                        <a:rPr sz="1000">
                          <a:solidFill>
                            <a:srgbClr val="1F2A37"/>
                          </a:solidFill>
                          <a:latin typeface="Calibri"/>
                        </a:rPr>
                        <a:t>book 1 days ahead (Tuesday)</a:t>
                      </a:r>
                    </a:p>
                  </a:txBody>
                  <a:tcPr marL="54864" marR="54864" marT="27432" marB="27432">
                    <a:solidFill>
                      <a:srgbClr val="F3F6F8"/>
                    </a:solidFill>
                  </a:tcPr>
                </a:tc>
                <a:tc>
                  <a:txBody>
                    <a:bodyPr/>
                    <a:lstStyle/>
                    <a:p>
                      <a:r>
                        <a:rPr sz="1000">
                          <a:solidFill>
                            <a:srgbClr val="1F2A37"/>
                          </a:solidFill>
                          <a:latin typeface="Calibri"/>
                        </a:rPr>
                        <a:t>55%</a:t>
                      </a:r>
                    </a:p>
                  </a:txBody>
                  <a:tcPr marL="54864" marR="54864" marT="27432" marB="27432">
                    <a:solidFill>
                      <a:srgbClr val="F3F6F8"/>
                    </a:solidFill>
                  </a:tcPr>
                </a:tc>
              </a:tr>
            </a:tbl>
          </a:graphicData>
        </a:graphic>
      </p:graphicFrame>
      <p:sp>
        <p:nvSpPr>
          <p:cNvPr id="9" name="TextBox 8"/>
          <p:cNvSpPr txBox="1"/>
          <p:nvPr/>
        </p:nvSpPr>
        <p:spPr>
          <a:xfrm>
            <a:off x="411480" y="3520440"/>
            <a:ext cx="5760720" cy="146304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Only levers the hospital controls were allowed to move (lead time, weekday); age, health and history stayed fixed. For 5 of 5 correctly flagged no-shows, a shorter lead time alone moved the appointment below the High threshold.</a:t>
            </a:r>
          </a:p>
        </p:txBody>
      </p:sp>
      <p:pic>
        <p:nvPicPr>
          <p:cNvPr id="10" name="Picture 9" descr="threshold_sensitivity.png"/>
          <p:cNvPicPr>
            <a:picLocks noChangeAspect="1"/>
          </p:cNvPicPr>
          <p:nvPr/>
        </p:nvPicPr>
        <p:blipFill>
          <a:blip r:embed="rId2"/>
          <a:stretch>
            <a:fillRect/>
          </a:stretch>
        </p:blipFill>
        <p:spPr>
          <a:xfrm>
            <a:off x="6309360" y="1188720"/>
            <a:ext cx="5486400" cy="3591098"/>
          </a:xfrm>
          <a:prstGeom prst="rect">
            <a:avLst/>
          </a:prstGeom>
        </p:spPr>
      </p:pic>
      <p:sp>
        <p:nvSpPr>
          <p:cNvPr id="11" name="TextBox 10"/>
          <p:cNvSpPr txBox="1"/>
          <p:nvPr/>
        </p:nvSpPr>
        <p:spPr>
          <a:xfrm>
            <a:off x="6309360" y="4663440"/>
            <a:ext cx="5486400" cy="100584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Moving the threshold trades reach against workload (red line = current operating point). The model is most sensitive to 'lead_days +3' (24% of High-tier decisions change), least to random data-entry noise.</a:t>
            </a:r>
          </a:p>
        </p:txBody>
      </p:sp>
      <p:sp>
        <p:nvSpPr>
          <p:cNvPr id="12" name="Rectangle 11"/>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Lead time is the one lever both the patient and the hospital can change — the what-if page on the dashboard shows this for any appointment.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Fairness summary</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Does the model find at-risk patients equally in every group? (Module 2 criterion; Module 4 audit)</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Fairness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10</a:t>
            </a:r>
          </a:p>
        </p:txBody>
      </p:sp>
      <p:pic>
        <p:nvPicPr>
          <p:cNvPr id="8" name="Picture 7" descr="fairness.png"/>
          <p:cNvPicPr>
            <a:picLocks noChangeAspect="1"/>
          </p:cNvPicPr>
          <p:nvPr/>
        </p:nvPicPr>
        <p:blipFill>
          <a:blip r:embed="rId2"/>
          <a:stretch>
            <a:fillRect/>
          </a:stretch>
        </p:blipFill>
        <p:spPr>
          <a:xfrm>
            <a:off x="411480" y="1143000"/>
            <a:ext cx="11338560" cy="3023616"/>
          </a:xfrm>
          <a:prstGeom prst="rect">
            <a:avLst/>
          </a:prstGeom>
        </p:spPr>
      </p:pic>
      <p:sp>
        <p:nvSpPr>
          <p:cNvPr id="9" name="TextBox 8"/>
          <p:cNvSpPr txBox="1"/>
          <p:nvPr/>
        </p:nvSpPr>
        <p:spPr>
          <a:xfrm>
            <a:off x="411480" y="4206240"/>
            <a:ext cx="11338560" cy="1463040"/>
          </a:xfrm>
          <a:prstGeom prst="rect">
            <a:avLst/>
          </a:prstGeom>
          <a:noFill/>
        </p:spPr>
        <p:txBody>
          <a:bodyPr wrap="square" anchor="t" lIns="73152" rIns="73152" tIns="36576" bIns="36576">
            <a:spAutoFit/>
          </a:bodyPr>
          <a:lstStyle/>
          <a:p>
            <a:pPr algn="l">
              <a:spcAft>
                <a:spcPts val="400"/>
              </a:spcAft>
            </a:pPr>
            <a:r>
              <a:rPr sz="1100" b="1">
                <a:solidFill>
                  <a:srgbClr val="1F2A37"/>
                </a:solidFill>
                <a:latin typeface="Calibri"/>
              </a:rPr>
              <a:t>In plain words</a:t>
            </a:r>
          </a:p>
          <a:p>
            <a:pPr algn="l">
              <a:spcAft>
                <a:spcPts val="400"/>
              </a:spcAft>
            </a:pPr>
            <a:r>
              <a:rPr sz="1100" b="0">
                <a:solidFill>
                  <a:srgbClr val="1F2A37"/>
                </a:solidFill>
                <a:latin typeface="Calibri"/>
              </a:rPr>
              <a:t>Gender: recall gap between groups 0.01 — within the 0.10 release threshold; flag-rate ratio 0.96.</a:t>
            </a:r>
          </a:p>
          <a:p>
            <a:pPr algn="l">
              <a:spcAft>
                <a:spcPts val="400"/>
              </a:spcAft>
            </a:pPr>
            <a:r>
              <a:rPr sz="1100" b="0">
                <a:solidFill>
                  <a:srgbClr val="1F2A37"/>
                </a:solidFill>
                <a:latin typeface="Calibri"/>
              </a:rPr>
              <a:t>Age band: recall gap between groups 0.73 — above the 0.10 release threshold; flag-rate ratio 0.16.</a:t>
            </a:r>
          </a:p>
          <a:p>
            <a:pPr algn="l">
              <a:spcAft>
                <a:spcPts val="400"/>
              </a:spcAft>
            </a:pPr>
            <a:r>
              <a:rPr sz="1100" b="0">
                <a:solidFill>
                  <a:srgbClr val="1F2A37"/>
                </a:solidFill>
                <a:latin typeface="Calibri"/>
              </a:rPr>
              <a:t>Welfare enrolment: recall gap between groups 0.16 — above the 0.10 release threshold; flag-rate ratio 0.76.</a:t>
            </a:r>
          </a:p>
          <a:p>
            <a:pPr algn="l">
              <a:spcAft>
                <a:spcPts val="400"/>
              </a:spcAft>
            </a:pPr>
            <a:r>
              <a:rPr sz="1100" b="0">
                <a:solidFill>
                  <a:srgbClr val="1F2A37"/>
                </a:solidFill>
                <a:latin typeface="Calibri"/>
              </a:rPr>
              <a:t>Disability recorded: recall gap between groups 0.20 — above the 0.10 release threshold; flag-rate ratio 0.68.</a:t>
            </a:r>
          </a:p>
        </p:txBody>
      </p:sp>
      <p:sp>
        <p:nvSpPr>
          <p:cNvPr id="10" name="Rectangle 9"/>
          <p:cNvSpPr/>
          <p:nvPr/>
        </p:nvSpPr>
        <p:spPr>
          <a:xfrm>
            <a:off x="411480" y="5760720"/>
            <a:ext cx="11338560" cy="640080"/>
          </a:xfrm>
          <a:prstGeom prst="rect">
            <a:avLst/>
          </a:prstGeom>
          <a:solidFill>
            <a:srgbClr val="C89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Not every group is served equally: the largest recall gap is on age band (0.73) — next slide shows what was 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Bias mitigation: what was found and what was done</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Module 4, Section 6.5</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Fairness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11</a:t>
            </a:r>
          </a:p>
        </p:txBody>
      </p:sp>
      <p:pic>
        <p:nvPicPr>
          <p:cNvPr id="8" name="Picture 7" descr="mitigation.png"/>
          <p:cNvPicPr>
            <a:picLocks noChangeAspect="1"/>
          </p:cNvPicPr>
          <p:nvPr/>
        </p:nvPicPr>
        <p:blipFill>
          <a:blip r:embed="rId2"/>
          <a:stretch>
            <a:fillRect/>
          </a:stretch>
        </p:blipFill>
        <p:spPr>
          <a:xfrm>
            <a:off x="411480" y="1188720"/>
            <a:ext cx="5852160" cy="2496922"/>
          </a:xfrm>
          <a:prstGeom prst="rect">
            <a:avLst/>
          </a:prstGeom>
        </p:spPr>
      </p:pic>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Found</a:t>
            </a:r>
          </a:p>
          <a:p>
            <a:pPr algn="l">
              <a:spcAft>
                <a:spcPts val="400"/>
              </a:spcAft>
            </a:pPr>
            <a:r>
              <a:rPr sz="1200" b="0">
                <a:solidFill>
                  <a:srgbClr val="1F2A37"/>
                </a:solidFill>
                <a:latin typeface="Calibri"/>
              </a:rPr>
              <a:t>At one shared threshold, recall differed by 0.73 across age band — above the 0.10 release threshold.</a:t>
            </a:r>
          </a:p>
          <a:p>
            <a:pPr algn="l">
              <a:spcAft>
                <a:spcPts val="400"/>
              </a:spcAft>
            </a:pPr>
            <a:r>
              <a:rPr sz="1200" b="1">
                <a:solidFill>
                  <a:srgbClr val="1F2A37"/>
                </a:solidFill>
                <a:latin typeface="Calibri"/>
              </a:rPr>
              <a:t>Done</a:t>
            </a:r>
          </a:p>
          <a:p>
            <a:pPr algn="l">
              <a:spcAft>
                <a:spcPts val="400"/>
              </a:spcAft>
            </a:pPr>
            <a:r>
              <a:rPr sz="1200" b="0">
                <a:solidFill>
                  <a:srgbClr val="1F2A37"/>
                </a:solidFill>
                <a:latin typeface="Calibri"/>
              </a:rPr>
              <a:t>Group-specific thresholds were chosen on the validation split so that every group reaches 70% recall (the equal-opportunity method of Hardt et al., 2016). On the test split the gap fell to 0.05; overall recall 69%, flag rate 44%.</a:t>
            </a:r>
          </a:p>
          <a:p>
            <a:pPr algn="l">
              <a:spcAft>
                <a:spcPts val="400"/>
              </a:spcAft>
            </a:pPr>
            <a:r>
              <a:rPr sz="1200" b="1">
                <a:solidFill>
                  <a:srgbClr val="1F2A37"/>
                </a:solidFill>
                <a:latin typeface="Calibri"/>
              </a:rPr>
              <a:t>Trade-off</a:t>
            </a:r>
          </a:p>
          <a:p>
            <a:pPr algn="l">
              <a:spcAft>
                <a:spcPts val="400"/>
              </a:spcAft>
            </a:pPr>
            <a:r>
              <a:rPr sz="1200" b="0">
                <a:solidFill>
                  <a:srgbClr val="1F2A37"/>
                </a:solidFill>
                <a:latin typeface="Calibri"/>
              </a:rPr>
              <a:t>The age band attribute is then used at decision time. That is acceptable only because the decision adds support and never removes it — and it needs approval from the AI &amp; Data Governance Committee before any use.</a:t>
            </a:r>
          </a:p>
          <a:p>
            <a:pPr algn="l">
              <a:spcAft>
                <a:spcPts val="400"/>
              </a:spcAft>
            </a:pPr>
            <a:r>
              <a:rPr sz="1200" b="1">
                <a:solidFill>
                  <a:srgbClr val="1F2A37"/>
                </a:solidFill>
                <a:latin typeface="Calibri"/>
              </a:rPr>
              <a:t>Cross-check</a:t>
            </a:r>
          </a:p>
          <a:p>
            <a:pPr algn="l">
              <a:spcAft>
                <a:spcPts val="400"/>
              </a:spcAft>
            </a:pPr>
            <a:r>
              <a:rPr sz="1200" b="0">
                <a:solidFill>
                  <a:srgbClr val="1F2A37"/>
                </a:solidFill>
                <a:latin typeface="Calibri"/>
              </a:rPr>
              <a:t>Fairlearn's ThresholdOptimizer gives a comparable result (details in the Q&amp;A appendix).</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Fairness here is an ongoing check, not a one-off result: the audit and the correction run every time the model is retrained.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Model limitations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What this model cannot do — stated before anyone asks</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Limitations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12</a:t>
            </a:r>
          </a:p>
        </p:txBody>
      </p:sp>
      <p:sp>
        <p:nvSpPr>
          <p:cNvPr id="8" name="TextBox 7"/>
          <p:cNvSpPr txBox="1"/>
          <p:nvPr/>
        </p:nvSpPr>
        <p:spPr>
          <a:xfrm>
            <a:off x="411480" y="1188720"/>
            <a:ext cx="566928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About the data</a:t>
            </a:r>
          </a:p>
          <a:p>
            <a:pPr algn="l">
              <a:spcAft>
                <a:spcPts val="400"/>
              </a:spcAft>
            </a:pPr>
            <a:r>
              <a:rPr sz="1200" b="0">
                <a:solidFill>
                  <a:srgbClr val="1F2A37"/>
                </a:solidFill>
                <a:latin typeface="Calibri"/>
              </a:rPr>
              <a:t>Trained on a Brazilian public dataset (Hoppen, 2016) as a disclosed proxy — JJUSHYCSH records were not yet available. It is a validated method, not a Jigjiga model.</a:t>
            </a:r>
          </a:p>
          <a:p>
            <a:pPr algn="l">
              <a:spcAft>
                <a:spcPts val="400"/>
              </a:spcAft>
            </a:pPr>
            <a:r>
              <a:rPr sz="1200" b="0">
                <a:solidFill>
                  <a:srgbClr val="1F2A37"/>
                </a:solidFill>
                <a:latin typeface="Calibri"/>
              </a:rPr>
              <a:t>Six weeks of appointments: no seasons, no rainy-season roads, no pastoral movement.</a:t>
            </a:r>
          </a:p>
          <a:p>
            <a:pPr algn="l">
              <a:spcAft>
                <a:spcPts val="400"/>
              </a:spcAft>
            </a:pPr>
            <a:r>
              <a:rPr sz="1200" b="0">
                <a:solidFill>
                  <a:srgbClr val="1F2A37"/>
                </a:solidFill>
                <a:latin typeface="Calibri"/>
              </a:rPr>
              <a:t>No distance, transport cost or phone-coverage variables — likely decisive here, absent in the data.</a:t>
            </a:r>
          </a:p>
          <a:p>
            <a:pPr algn="l">
              <a:spcAft>
                <a:spcPts val="400"/>
              </a:spcAft>
            </a:pPr>
            <a:r>
              <a:rPr sz="1200" b="0">
                <a:solidFill>
                  <a:srgbClr val="1F2A37"/>
                </a:solidFill>
                <a:latin typeface="Calibri"/>
              </a:rPr>
              <a:t>Only ~2 % of records carry a disability flag, so that group's results are imprecise.</a:t>
            </a:r>
          </a:p>
        </p:txBody>
      </p:sp>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About the model</a:t>
            </a:r>
          </a:p>
          <a:p>
            <a:pPr algn="l">
              <a:spcAft>
                <a:spcPts val="400"/>
              </a:spcAft>
            </a:pPr>
            <a:r>
              <a:rPr sz="1200" b="0">
                <a:solidFill>
                  <a:srgbClr val="1F2A37"/>
                </a:solidFill>
                <a:latin typeface="Calibri"/>
              </a:rPr>
              <a:t>Precision is 33%: most flagged patients would have attended. A flag is a reason to call, not a prediction about a person.</a:t>
            </a:r>
          </a:p>
          <a:p>
            <a:pPr algn="l">
              <a:spcAft>
                <a:spcPts val="400"/>
              </a:spcAft>
            </a:pPr>
            <a:r>
              <a:rPr sz="1200" b="0">
                <a:solidFill>
                  <a:srgbClr val="1F2A37"/>
                </a:solidFill>
                <a:latin typeface="Calibri"/>
              </a:rPr>
              <a:t>Ranking quality (ROC-AUC 0.74) is modest; the gain over a simple lead-time rule is real but small.</a:t>
            </a:r>
          </a:p>
          <a:p>
            <a:pPr algn="l">
              <a:spcAft>
                <a:spcPts val="400"/>
              </a:spcAft>
            </a:pPr>
            <a:r>
              <a:rPr sz="1200" b="0">
                <a:solidFill>
                  <a:srgbClr val="1F2A37"/>
                </a:solidFill>
                <a:latin typeface="Calibri"/>
              </a:rPr>
              <a:t>A model trained on one period can drift: the forward-in-time check gave ROC-AUC 0.74 and recall 68% on later appointments — monitoring is not optional.</a:t>
            </a:r>
          </a:p>
          <a:p>
            <a:pPr algn="l">
              <a:spcAft>
                <a:spcPts val="400"/>
              </a:spcAft>
            </a:pPr>
            <a:r>
              <a:rPr sz="1200" b="0">
                <a:solidFill>
                  <a:srgbClr val="1F2A37"/>
                </a:solidFill>
                <a:latin typeface="Calibri"/>
              </a:rPr>
              <a:t>Scores can be misused to deprioritise patients; the governance policy forbids it and the API states it on every response.</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Everything on this slide is in the Model Card. A stakeholder who only reads one page should read that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Transparency and ethics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Built on the Module 1 Ethical AI Charter, the Module 2 privacy plan and the Module 4 Model Card</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Ethics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13</a:t>
            </a:r>
          </a:p>
        </p:txBody>
      </p:sp>
      <p:sp>
        <p:nvSpPr>
          <p:cNvPr id="8" name="TextBox 7"/>
          <p:cNvSpPr txBox="1"/>
          <p:nvPr/>
        </p:nvSpPr>
        <p:spPr>
          <a:xfrm>
            <a:off x="411480" y="1188720"/>
            <a:ext cx="566928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Transparency statement</a:t>
            </a:r>
          </a:p>
          <a:p>
            <a:pPr algn="l">
              <a:spcAft>
                <a:spcPts val="400"/>
              </a:spcAft>
            </a:pPr>
            <a:r>
              <a:rPr sz="1200" b="0">
                <a:solidFill>
                  <a:srgbClr val="1F2A37"/>
                </a:solidFill>
                <a:latin typeface="Calibri"/>
              </a:rPr>
              <a:t>The model CAN rank scheduled appointments by likelihood of being missed, 24–72 h ahead, and explain each score with its main reasons.</a:t>
            </a:r>
          </a:p>
          <a:p>
            <a:pPr algn="l">
              <a:spcAft>
                <a:spcPts val="400"/>
              </a:spcAft>
            </a:pPr>
            <a:r>
              <a:rPr sz="1200" b="0">
                <a:solidFill>
                  <a:srgbClr val="1F2A37"/>
                </a:solidFill>
                <a:latin typeface="Calibri"/>
              </a:rPr>
              <a:t>The model CANNOT say that a given patient will miss, measure Jigjiga patients yet, or see distance, transport or season.</a:t>
            </a:r>
          </a:p>
          <a:p>
            <a:pPr algn="l">
              <a:spcAft>
                <a:spcPts val="400"/>
              </a:spcAft>
            </a:pPr>
            <a:r>
              <a:rPr sz="1200" b="0">
                <a:solidFill>
                  <a:srgbClr val="1F2A37"/>
                </a:solidFill>
                <a:latin typeface="Calibri"/>
              </a:rPr>
              <a:t>The model MUST NOT be used to cancel, overbook against or deprioritise anyone. Every score is advisory and staff overrides are logged.</a:t>
            </a:r>
          </a:p>
          <a:p>
            <a:pPr algn="l">
              <a:spcAft>
                <a:spcPts val="400"/>
              </a:spcAft>
            </a:pPr>
            <a:r>
              <a:rPr sz="1200" b="1">
                <a:solidFill>
                  <a:srgbClr val="1F2A37"/>
                </a:solidFill>
                <a:latin typeface="Calibri"/>
              </a:rPr>
              <a:t>Privacy</a:t>
            </a:r>
          </a:p>
          <a:p>
            <a:pPr algn="l">
              <a:spcAft>
                <a:spcPts val="400"/>
              </a:spcAft>
            </a:pPr>
            <a:r>
              <a:rPr sz="1200" b="0">
                <a:solidFill>
                  <a:srgbClr val="1F2A37"/>
                </a:solidFill>
                <a:latin typeface="Calibri"/>
              </a:rPr>
              <a:t>Pseudonymised keys, k = 20 area grouping, no names or phone numbers, three access tiers (Module 3). Pseudonymised data are still personal data under Proclamation No. 1321/2024.</a:t>
            </a:r>
          </a:p>
        </p:txBody>
      </p:sp>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Oversight</a:t>
            </a:r>
          </a:p>
          <a:p>
            <a:pPr algn="l">
              <a:spcAft>
                <a:spcPts val="400"/>
              </a:spcAft>
            </a:pPr>
            <a:r>
              <a:rPr sz="1200" b="0">
                <a:solidFill>
                  <a:srgbClr val="1F2A37"/>
                </a:solidFill>
                <a:latin typeface="Calibri"/>
              </a:rPr>
              <a:t>Hospital Research &amp; Ethics Review Committee — approval of any local patient-data use.</a:t>
            </a:r>
          </a:p>
          <a:p>
            <a:pPr algn="l">
              <a:spcAft>
                <a:spcPts val="400"/>
              </a:spcAft>
            </a:pPr>
            <a:r>
              <a:rPr sz="1200" b="0">
                <a:solidFill>
                  <a:srgbClr val="1F2A37"/>
                </a:solidFill>
                <a:latin typeface="Calibri"/>
              </a:rPr>
              <a:t>AI &amp; Data Governance Committee — fairness thresholds, feature changes, any change in how scores are used.</a:t>
            </a:r>
          </a:p>
          <a:p>
            <a:pPr algn="l">
              <a:spcAft>
                <a:spcPts val="400"/>
              </a:spcAft>
            </a:pPr>
            <a:r>
              <a:rPr sz="1200" b="1">
                <a:solidFill>
                  <a:srgbClr val="1F2A37"/>
                </a:solidFill>
                <a:latin typeface="Calibri"/>
              </a:rPr>
              <a:t>Honest visuals</a:t>
            </a:r>
          </a:p>
          <a:p>
            <a:pPr algn="l">
              <a:spcAft>
                <a:spcPts val="400"/>
              </a:spcAft>
            </a:pPr>
            <a:r>
              <a:rPr sz="1200" b="0">
                <a:solidFill>
                  <a:srgbClr val="1F2A37"/>
                </a:solidFill>
                <a:latin typeface="Calibri"/>
              </a:rPr>
              <a:t>Every chart in this deck starts its axis at zero or shows the full 0–1 range, reports the test split only, and shows the baseline next to the model.</a:t>
            </a:r>
          </a:p>
          <a:p>
            <a:pPr algn="l">
              <a:spcAft>
                <a:spcPts val="400"/>
              </a:spcAft>
            </a:pPr>
            <a:r>
              <a:rPr sz="1200" b="1">
                <a:solidFill>
                  <a:srgbClr val="1F2A37"/>
                </a:solidFill>
                <a:latin typeface="Calibri"/>
              </a:rPr>
              <a:t>Monitoring once live</a:t>
            </a:r>
          </a:p>
          <a:p>
            <a:pPr algn="l">
              <a:spcAft>
                <a:spcPts val="400"/>
              </a:spcAft>
            </a:pPr>
            <a:r>
              <a:rPr sz="1200" b="0">
                <a:solidFill>
                  <a:srgbClr val="1F2A37"/>
                </a:solidFill>
                <a:latin typeface="Calibri"/>
              </a:rPr>
              <a:t>Monthly recall and per-group recall gap · weekly flag rate vs outreach capacity · monthly input drift · quarterly calibration and override review.</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The commitment from Module 1 stands: the score may trigger additional support — never denial, cancellation or lower clinical priority.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What the findings mean for JJUSHYCSH</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Connecting the results to the Module 1 goals — without prescribing a decision</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Implications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14</a:t>
            </a:r>
          </a:p>
        </p:txBody>
      </p:sp>
      <p:sp>
        <p:nvSpPr>
          <p:cNvPr id="8" name="TextBox 7"/>
          <p:cNvSpPr txBox="1"/>
          <p:nvPr/>
        </p:nvSpPr>
        <p:spPr>
          <a:xfrm>
            <a:off x="411480" y="1188720"/>
            <a:ext cx="11338560" cy="448056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Reach — Module 1 goal: ≥ 70 % of high-risk no-shows flagged</a:t>
            </a:r>
          </a:p>
          <a:p>
            <a:pPr algn="l">
              <a:spcAft>
                <a:spcPts val="400"/>
              </a:spcAft>
            </a:pPr>
            <a:r>
              <a:rPr sz="1200" b="0">
                <a:solidFill>
                  <a:srgbClr val="1F2A37"/>
                </a:solidFill>
                <a:latin typeface="Calibri"/>
              </a:rPr>
              <a:t>On unseen appointments the model reaches 71% recall. If JJUSHYCSH's own data behave like the proxy, roughly 72 of the 101 no-shows in a week of 500 referral appointments would be on the outreach list.</a:t>
            </a:r>
          </a:p>
          <a:p>
            <a:pPr algn="l">
              <a:spcAft>
                <a:spcPts val="400"/>
              </a:spcAft>
            </a:pPr>
            <a:r>
              <a:rPr sz="1200" b="1">
                <a:solidFill>
                  <a:srgbClr val="1F2A37"/>
                </a:solidFill>
                <a:latin typeface="Calibri"/>
              </a:rPr>
              <a:t>Workload — Module 1 constraint: fixed reminder capacity</a:t>
            </a:r>
          </a:p>
          <a:p>
            <a:pPr algn="l">
              <a:spcAft>
                <a:spcPts val="400"/>
              </a:spcAft>
            </a:pPr>
            <a:r>
              <a:rPr sz="1200" b="0">
                <a:solidFill>
                  <a:srgbClr val="1F2A37"/>
                </a:solidFill>
                <a:latin typeface="Calibri"/>
              </a:rPr>
              <a:t>That reach costs about 217 extra contacts per 500 appointments (43%). The threshold is a dial: the dashboard shows what each level of calls buys in recall.</a:t>
            </a:r>
          </a:p>
          <a:p>
            <a:pPr algn="l">
              <a:spcAft>
                <a:spcPts val="400"/>
              </a:spcAft>
            </a:pPr>
            <a:r>
              <a:rPr sz="1200" b="1">
                <a:solidFill>
                  <a:srgbClr val="1F2A37"/>
                </a:solidFill>
                <a:latin typeface="Calibri"/>
              </a:rPr>
              <a:t>Where the risk sits — drivers</a:t>
            </a:r>
          </a:p>
          <a:p>
            <a:pPr algn="l">
              <a:spcAft>
                <a:spcPts val="400"/>
              </a:spcAft>
            </a:pPr>
            <a:r>
              <a:rPr sz="1200" b="0">
                <a:solidFill>
                  <a:srgbClr val="1F2A37"/>
                </a:solidFill>
                <a:latin typeface="Calibri"/>
              </a:rPr>
              <a:t>Long lead times and prior missed visits dominate. Implication: the booking desk, not the clinic, is where most of the risk is created — and where earlier slots or confirmation calls can change it.</a:t>
            </a:r>
          </a:p>
          <a:p>
            <a:pPr algn="l">
              <a:spcAft>
                <a:spcPts val="400"/>
              </a:spcAft>
            </a:pPr>
            <a:r>
              <a:rPr sz="1200" b="1">
                <a:solidFill>
                  <a:srgbClr val="1F2A37"/>
                </a:solidFill>
                <a:latin typeface="Calibri"/>
              </a:rPr>
              <a:t>Specialist-slot utilisation — Module 1 supporting KPI</a:t>
            </a:r>
          </a:p>
          <a:p>
            <a:pPr algn="l">
              <a:spcAft>
                <a:spcPts val="400"/>
              </a:spcAft>
            </a:pPr>
            <a:r>
              <a:rPr sz="1200" b="0">
                <a:solidFill>
                  <a:srgbClr val="1F2A37"/>
                </a:solidFill>
                <a:latin typeface="Calibri"/>
              </a:rPr>
              <a:t>Each caught no-show is a slot that can be re-offered; each false flag costs one reminder. The asymmetry is what makes a modest-precision model still worth running.</a:t>
            </a:r>
          </a:p>
          <a:p>
            <a:pPr algn="l">
              <a:spcAft>
                <a:spcPts val="400"/>
              </a:spcAft>
            </a:pPr>
            <a:r>
              <a:rPr sz="1200" b="1">
                <a:solidFill>
                  <a:srgbClr val="1F2A37"/>
                </a:solidFill>
                <a:latin typeface="Calibri"/>
              </a:rPr>
              <a:t>Fairness as a performance measure — Module 2</a:t>
            </a:r>
          </a:p>
          <a:p>
            <a:pPr algn="l">
              <a:spcAft>
                <a:spcPts val="400"/>
              </a:spcAft>
            </a:pPr>
            <a:r>
              <a:rPr sz="1200" b="0">
                <a:solidFill>
                  <a:srgbClr val="1F2A37"/>
                </a:solidFill>
                <a:latin typeface="Calibri"/>
              </a:rPr>
              <a:t>Equal reach needs the group-threshold correction for age band; without it, some groups would be under-served.</a:t>
            </a:r>
          </a:p>
        </p:txBody>
      </p:sp>
      <p:sp>
        <p:nvSpPr>
          <p:cNvPr id="9" name="Rectangle 8"/>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The findings tie back to each Module 1 goal; whether and how to act on them is a decision for the pilot-readiness gate, not for this presentation.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Possible next steps (for discussion, not a recommendation)</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Options the stakeholders may consider; the dashboard and code are available now</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Next steps</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15</a:t>
            </a:r>
          </a:p>
        </p:txBody>
      </p:sp>
      <p:sp>
        <p:nvSpPr>
          <p:cNvPr id="8" name="TextBox 7"/>
          <p:cNvSpPr txBox="1"/>
          <p:nvPr/>
        </p:nvSpPr>
        <p:spPr>
          <a:xfrm>
            <a:off x="411480" y="1188720"/>
            <a:ext cx="566928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Options on the table</a:t>
            </a:r>
          </a:p>
          <a:p>
            <a:pPr algn="l">
              <a:spcAft>
                <a:spcPts val="400"/>
              </a:spcAft>
            </a:pPr>
            <a:r>
              <a:rPr sz="1200" b="0">
                <a:solidFill>
                  <a:srgbClr val="1F2A37"/>
                </a:solidFill>
                <a:latin typeface="Calibri"/>
              </a:rPr>
              <a:t>Request the anonymised JJUSHYCSH OPD/referral extract through the ethics pathway (Module 2 dependency D-01) and repeat the Module 3–4 validation on local data.</a:t>
            </a:r>
          </a:p>
          <a:p>
            <a:pPr algn="l">
              <a:spcAft>
                <a:spcPts val="400"/>
              </a:spcAft>
            </a:pPr>
            <a:r>
              <a:rPr sz="1200" b="0">
                <a:solidFill>
                  <a:srgbClr val="1F2A37"/>
                </a:solidFill>
                <a:latin typeface="Calibri"/>
              </a:rPr>
              <a:t>Agree an outreach capacity, then read the threshold off the dashboard rather than fixing it in advance.</a:t>
            </a:r>
          </a:p>
          <a:p>
            <a:pPr algn="l">
              <a:spcAft>
                <a:spcPts val="400"/>
              </a:spcAft>
            </a:pPr>
            <a:r>
              <a:rPr sz="1200" b="0">
                <a:solidFill>
                  <a:srgbClr val="1F2A37"/>
                </a:solidFill>
                <a:latin typeface="Calibri"/>
              </a:rPr>
              <a:t>Add the local data fields the proxy lacks: distance band, referral source, contact availability.</a:t>
            </a:r>
          </a:p>
          <a:p>
            <a:pPr algn="l">
              <a:spcAft>
                <a:spcPts val="400"/>
              </a:spcAft>
            </a:pPr>
            <a:r>
              <a:rPr sz="1200" b="0">
                <a:solidFill>
                  <a:srgbClr val="1F2A37"/>
                </a:solidFill>
                <a:latin typeface="Calibri"/>
              </a:rPr>
              <a:t>Decide in the AI &amp; Data Governance Committee whether group-specific thresholds are acceptable.</a:t>
            </a:r>
          </a:p>
          <a:p>
            <a:pPr algn="l">
              <a:spcAft>
                <a:spcPts val="400"/>
              </a:spcAft>
            </a:pPr>
            <a:r>
              <a:rPr sz="1200" b="0">
                <a:solidFill>
                  <a:srgbClr val="1F2A37"/>
                </a:solidFill>
                <a:latin typeface="Calibri"/>
              </a:rPr>
              <a:t>Pilot in one department with the override log switched on from day one.</a:t>
            </a:r>
          </a:p>
        </p:txBody>
      </p:sp>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200" b="1">
                <a:solidFill>
                  <a:srgbClr val="1F2A37"/>
                </a:solidFill>
                <a:latin typeface="Calibri"/>
              </a:rPr>
              <a:t>Available today</a:t>
            </a:r>
          </a:p>
          <a:p>
            <a:pPr algn="l">
              <a:spcAft>
                <a:spcPts val="400"/>
              </a:spcAft>
            </a:pPr>
            <a:r>
              <a:rPr sz="1200" b="0">
                <a:solidFill>
                  <a:srgbClr val="1F2A37"/>
                </a:solidFill>
                <a:latin typeface="Calibri"/>
              </a:rPr>
              <a:t>Live dashboard: https://jjushycsh-noshow-dashboard-9nubvdk2zitnkwww33dukn.streamlit.app</a:t>
            </a:r>
          </a:p>
          <a:p>
            <a:pPr algn="l">
              <a:spcAft>
                <a:spcPts val="400"/>
              </a:spcAft>
            </a:pPr>
            <a:r>
              <a:rPr sz="1200" b="0">
                <a:solidFill>
                  <a:srgbClr val="1F2A37"/>
                </a:solidFill>
                <a:latin typeface="Calibri"/>
              </a:rPr>
              <a:t>   overview · results · drivers · what-if scoring · ethical-compliance (fairness) view · limitations</a:t>
            </a:r>
          </a:p>
          <a:p>
            <a:pPr algn="l">
              <a:spcAft>
                <a:spcPts val="400"/>
              </a:spcAft>
            </a:pPr>
            <a:r>
              <a:rPr sz="1200" b="0">
                <a:solidFill>
                  <a:srgbClr val="1F2A37"/>
                </a:solidFill>
                <a:latin typeface="Calibri"/>
              </a:rPr>
              <a:t>Code and artefacts: https://github.com/abdifaraha570-lgtm/capstoneMolude3</a:t>
            </a:r>
          </a:p>
          <a:p>
            <a:pPr algn="l">
              <a:spcAft>
                <a:spcPts val="400"/>
              </a:spcAft>
            </a:pPr>
            <a:r>
              <a:rPr sz="1200" b="0">
                <a:solidFill>
                  <a:srgbClr val="1F2A37"/>
                </a:solidFill>
                <a:latin typeface="Calibri"/>
              </a:rPr>
              <a:t>   Module 3 pipeline · Module 4 model, API and reports · Module 5 dashboard and this deck</a:t>
            </a:r>
          </a:p>
          <a:p>
            <a:pPr algn="l">
              <a:spcAft>
                <a:spcPts val="400"/>
              </a:spcAft>
            </a:pPr>
            <a:r>
              <a:rPr sz="1200" b="0">
                <a:solidFill>
                  <a:srgbClr val="1F2A37"/>
                </a:solidFill>
                <a:latin typeface="Calibri"/>
              </a:rPr>
              <a:t>API: POST /predict returns probability, tier, outreach action and reason codes (demo in the appendix).</a:t>
            </a:r>
          </a:p>
          <a:p>
            <a:pPr algn="l">
              <a:spcAft>
                <a:spcPts val="400"/>
              </a:spcAft>
            </a:pPr>
            <a:r>
              <a:rPr sz="1200" b="1">
                <a:solidFill>
                  <a:srgbClr val="1F2A37"/>
                </a:solidFill>
                <a:latin typeface="Calibri"/>
              </a:rPr>
              <a:t>Q&amp;A appendix follows</a:t>
            </a:r>
          </a:p>
          <a:p>
            <a:pPr algn="l">
              <a:spcAft>
                <a:spcPts val="400"/>
              </a:spcAft>
            </a:pPr>
            <a:r>
              <a:rPr sz="1200" b="0">
                <a:solidFill>
                  <a:srgbClr val="1F2A37"/>
                </a:solidFill>
                <a:latin typeface="Calibri"/>
              </a:rPr>
              <a:t>Data and split · protocol and hyperparameters · full metrics · fairness definitions · sensitivity and drift · API demo · monitoring · references.</a:t>
            </a:r>
          </a:p>
        </p:txBody>
      </p:sp>
      <p:sp>
        <p:nvSpPr>
          <p:cNvPr id="10" name="Rectangle 9"/>
          <p:cNvSpPr/>
          <p:nvPr/>
        </p:nvSpPr>
        <p:spPr>
          <a:xfrm>
            <a:off x="411480" y="5760720"/>
            <a:ext cx="11338560" cy="640080"/>
          </a:xfrm>
          <a:prstGeom prst="rect">
            <a:avLst/>
          </a:prstGeom>
          <a:solidFill>
            <a:srgbClr val="2E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60720"/>
            <a:ext cx="11155680" cy="640080"/>
          </a:xfrm>
          <a:prstGeom prst="rect">
            <a:avLst/>
          </a:prstGeom>
          <a:noFill/>
        </p:spPr>
        <p:txBody>
          <a:bodyPr wrap="square" anchor="ctr" lIns="73152" rIns="73152" tIns="36576" bIns="36576">
            <a:spAutoFit/>
          </a:bodyPr>
          <a:lstStyle/>
          <a:p>
            <a:pPr algn="l">
              <a:spcAft>
                <a:spcPts val="400"/>
              </a:spcAft>
            </a:pPr>
            <a:r>
              <a:rPr sz="1400" b="1">
                <a:solidFill>
                  <a:srgbClr val="FFFFFF"/>
                </a:solidFill>
                <a:latin typeface="Calibri"/>
              </a:rPr>
              <a:t>Thank you. Everything shown is reproducible from the repository; the dashboard shows the same numbers live.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Q&amp;A appendix</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Technical backup for questions</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16</a:t>
            </a:r>
          </a:p>
        </p:txBody>
      </p:sp>
      <p:sp>
        <p:nvSpPr>
          <p:cNvPr id="8" name="TextBox 7"/>
          <p:cNvSpPr txBox="1"/>
          <p:nvPr/>
        </p:nvSpPr>
        <p:spPr>
          <a:xfrm>
            <a:off x="411480" y="1371600"/>
            <a:ext cx="10972800" cy="3657600"/>
          </a:xfrm>
          <a:prstGeom prst="rect">
            <a:avLst/>
          </a:prstGeom>
          <a:noFill/>
        </p:spPr>
        <p:txBody>
          <a:bodyPr wrap="square" anchor="t" lIns="73152" rIns="73152" tIns="36576" bIns="36576">
            <a:spAutoFit/>
          </a:bodyPr>
          <a:lstStyle/>
          <a:p>
            <a:pPr algn="l">
              <a:spcAft>
                <a:spcPts val="400"/>
              </a:spcAft>
            </a:pPr>
            <a:r>
              <a:rPr sz="1600" b="0">
                <a:solidFill>
                  <a:srgbClr val="1F2A37"/>
                </a:solidFill>
                <a:latin typeface="Calibri"/>
              </a:rPr>
              <a:t>A1  Data, pipeline and split</a:t>
            </a:r>
          </a:p>
          <a:p>
            <a:pPr algn="l">
              <a:spcAft>
                <a:spcPts val="400"/>
              </a:spcAft>
            </a:pPr>
            <a:r>
              <a:rPr sz="1600" b="0">
                <a:solidFill>
                  <a:srgbClr val="1F2A37"/>
                </a:solidFill>
                <a:latin typeface="Calibri"/>
              </a:rPr>
              <a:t>A2  Protocol, hyperparameters and cross-validation</a:t>
            </a:r>
          </a:p>
          <a:p>
            <a:pPr algn="l">
              <a:spcAft>
                <a:spcPts val="400"/>
              </a:spcAft>
            </a:pPr>
            <a:r>
              <a:rPr sz="1600" b="0">
                <a:solidFill>
                  <a:srgbClr val="1F2A37"/>
                </a:solidFill>
                <a:latin typeface="Calibri"/>
              </a:rPr>
              <a:t>A3  Full performance metrics</a:t>
            </a:r>
          </a:p>
          <a:p>
            <a:pPr algn="l">
              <a:spcAft>
                <a:spcPts val="400"/>
              </a:spcAft>
            </a:pPr>
            <a:r>
              <a:rPr sz="1600" b="0">
                <a:solidFill>
                  <a:srgbClr val="1F2A37"/>
                </a:solidFill>
                <a:latin typeface="Calibri"/>
              </a:rPr>
              <a:t>A4  Fairness definitions and full metrics</a:t>
            </a:r>
          </a:p>
          <a:p>
            <a:pPr algn="l">
              <a:spcAft>
                <a:spcPts val="400"/>
              </a:spcAft>
            </a:pPr>
            <a:r>
              <a:rPr sz="1600" b="0">
                <a:solidFill>
                  <a:srgbClr val="1F2A37"/>
                </a:solidFill>
                <a:latin typeface="Calibri"/>
              </a:rPr>
              <a:t>A5  Necessity review, sensitivity analysis and drift check</a:t>
            </a:r>
          </a:p>
          <a:p>
            <a:pPr algn="l">
              <a:spcAft>
                <a:spcPts val="400"/>
              </a:spcAft>
            </a:pPr>
            <a:r>
              <a:rPr sz="1600" b="0">
                <a:solidFill>
                  <a:srgbClr val="1F2A37"/>
                </a:solidFill>
                <a:latin typeface="Calibri"/>
              </a:rPr>
              <a:t>A6  Architecture and API demonstration</a:t>
            </a:r>
          </a:p>
          <a:p>
            <a:pPr algn="l">
              <a:spcAft>
                <a:spcPts val="400"/>
              </a:spcAft>
            </a:pPr>
            <a:r>
              <a:rPr sz="1600" b="0">
                <a:solidFill>
                  <a:srgbClr val="1F2A37"/>
                </a:solidFill>
                <a:latin typeface="Calibri"/>
              </a:rPr>
              <a:t>A7  Acceptance criteria and monitoring plan</a:t>
            </a:r>
          </a:p>
          <a:p>
            <a:pPr algn="l">
              <a:spcAft>
                <a:spcPts val="400"/>
              </a:spcAft>
            </a:pPr>
            <a:r>
              <a:rPr sz="1600" b="0">
                <a:solidFill>
                  <a:srgbClr val="1F2A37"/>
                </a:solidFill>
                <a:latin typeface="Calibri"/>
              </a:rPr>
              <a:t>References (NXU / APA format)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A1 · Data, pipeline and split</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Module 3 hand-over used unchanged</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17</a:t>
            </a:r>
          </a:p>
        </p:txBody>
      </p:sp>
      <p:sp>
        <p:nvSpPr>
          <p:cNvPr id="8" name="TextBox 7"/>
          <p:cNvSpPr txBox="1"/>
          <p:nvPr/>
        </p:nvSpPr>
        <p:spPr>
          <a:xfrm>
            <a:off x="411480" y="1188720"/>
            <a:ext cx="11338560" cy="4389120"/>
          </a:xfrm>
          <a:prstGeom prst="rect">
            <a:avLst/>
          </a:prstGeom>
          <a:noFill/>
        </p:spPr>
        <p:txBody>
          <a:bodyPr wrap="square" anchor="t" lIns="73152" rIns="73152" tIns="36576" bIns="36576">
            <a:spAutoFit/>
          </a:bodyPr>
          <a:lstStyle/>
          <a:p>
            <a:pPr algn="l">
              <a:spcAft>
                <a:spcPts val="400"/>
              </a:spcAft>
            </a:pPr>
            <a:r>
              <a:rPr sz="1200" b="0">
                <a:solidFill>
                  <a:srgbClr val="1F2A37"/>
                </a:solidFill>
                <a:latin typeface="Calibri"/>
              </a:rPr>
              <a:t>Source: Medical Appointment No Shows (Hoppen, 2016), 110,527 appointments, 14 variables; disclosed proxy for JJUSHYCSH records.</a:t>
            </a:r>
          </a:p>
          <a:p>
            <a:pPr algn="l">
              <a:spcAft>
                <a:spcPts val="400"/>
              </a:spcAft>
            </a:pPr>
            <a:r>
              <a:rPr sz="1200" b="0">
                <a:solidFill>
                  <a:srgbClr val="1F2A37"/>
                </a:solidFill>
                <a:latin typeface="Calibri"/>
              </a:rPr>
              <a:t>Module 3 pipeline: ingest → raw validation (28 checks) → clean → anonymise (salted SHA-256 keys, k = 20 area grouping, age top-coded at 90) → features → processed validation (23 checks, privacy gate) → publish + bias check + audit log. 110,527 in → 109,899 model-ready rows.</a:t>
            </a:r>
          </a:p>
          <a:p>
            <a:pPr algn="l">
              <a:spcAft>
                <a:spcPts val="400"/>
              </a:spcAft>
            </a:pPr>
            <a:r>
              <a:rPr sz="1200" b="0">
                <a:solidFill>
                  <a:srgbClr val="1F2A37"/>
                </a:solidFill>
                <a:latin typeface="Calibri"/>
              </a:rPr>
              <a:t>Split: GroupShuffleSplit on patient key, seed 42 — train 76,706 / validation 16,673 / test 16,520; no patient in two sets (asserted in Module 4). No-show rate 20.1% / 20.1% / 20.3%.</a:t>
            </a:r>
          </a:p>
          <a:p>
            <a:pPr algn="l">
              <a:spcAft>
                <a:spcPts val="400"/>
              </a:spcAft>
            </a:pPr>
            <a:r>
              <a:rPr sz="1200" b="0">
                <a:solidFill>
                  <a:srgbClr val="1F2A37"/>
                </a:solidFill>
                <a:latin typeface="Calibri"/>
              </a:rPr>
              <a:t>Features (12): age, lead_days, prior_visits, prior_no_shows, prior_no_show_rate, chronic_count, scholarship, hypertension, diabetes, same_day, first_visit, appt_weekday.</a:t>
            </a:r>
          </a:p>
          <a:p>
            <a:pPr algn="l">
              <a:spcAft>
                <a:spcPts val="400"/>
              </a:spcAft>
            </a:pPr>
            <a:r>
              <a:rPr sz="1200" b="0">
                <a:solidFill>
                  <a:srgbClr val="1F2A37"/>
                </a:solidFill>
                <a:latin typeface="Calibri"/>
              </a:rPr>
              <a:t>Excluded: sms_received (intervention leakage), area_code (geography-as-penalty risk), gender (audit only), appt_month (calendar proxy), lead_band (redundant); alcoholism and has_disability dropped by the necessity review.</a:t>
            </a:r>
          </a:p>
          <a:p>
            <a:pPr algn="l">
              <a:spcAft>
                <a:spcPts val="400"/>
              </a:spcAft>
            </a:pPr>
            <a:r>
              <a:rPr sz="1200" b="0">
                <a:solidFill>
                  <a:srgbClr val="1F2A37"/>
                </a:solidFill>
                <a:latin typeface="Calibri"/>
              </a:rPr>
              <a:t>Data hash 65596f8d2f9e… tagged on every MLflow run (experiment jjushycsh-noshow-m4; registry jjushycsh_noshow_risk v1, alias champion).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A2 · Protocol, hyperparameters and cross-validation</a:t>
            </a:r>
          </a:p>
        </p:txBody>
      </p:sp>
      <p:sp>
        <p:nvSpPr>
          <p:cNvPr id="4" name="Rectangle 3"/>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6" name="TextBox 5"/>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18</a:t>
            </a:r>
          </a:p>
        </p:txBody>
      </p:sp>
      <p:graphicFrame>
        <p:nvGraphicFramePr>
          <p:cNvPr id="7" name="Table 6"/>
          <p:cNvGraphicFramePr>
            <a:graphicFrameLocks noGrp="1"/>
          </p:cNvGraphicFramePr>
          <p:nvPr/>
        </p:nvGraphicFramePr>
        <p:xfrm>
          <a:off x="411480" y="1188720"/>
          <a:ext cx="11338560" cy="2194560"/>
        </p:xfrm>
        <a:graphic>
          <a:graphicData uri="http://schemas.openxmlformats.org/drawingml/2006/table">
            <a:tbl>
              <a:tblPr firstRow="1" bandRow="1">
                <a:tableStyleId>{5C22544A-7EE6-4342-B048-85BDC9FD1C3A}</a:tableStyleId>
              </a:tblPr>
              <a:tblGrid>
                <a:gridCol w="1828800"/>
                <a:gridCol w="5669280"/>
                <a:gridCol w="1371600"/>
                <a:gridCol w="1188720"/>
                <a:gridCol w="1280160"/>
              </a:tblGrid>
              <a:tr h="548640">
                <a:tc>
                  <a:txBody>
                    <a:bodyPr/>
                    <a:lstStyle/>
                    <a:p>
                      <a:r>
                        <a:rPr sz="1000" b="1">
                          <a:solidFill>
                            <a:srgbClr val="FFFFFF"/>
                          </a:solidFill>
                          <a:latin typeface="Calibri"/>
                        </a:rPr>
                        <a:t>Model</a:t>
                      </a:r>
                    </a:p>
                  </a:txBody>
                  <a:tcPr marL="54864" marR="54864" marT="27432" marB="27432">
                    <a:solidFill>
                      <a:srgbClr val="1F3B57"/>
                    </a:solidFill>
                  </a:tcPr>
                </a:tc>
                <a:tc>
                  <a:txBody>
                    <a:bodyPr/>
                    <a:lstStyle/>
                    <a:p>
                      <a:r>
                        <a:rPr sz="1000" b="1">
                          <a:solidFill>
                            <a:srgbClr val="FFFFFF"/>
                          </a:solidFill>
                          <a:latin typeface="Calibri"/>
                        </a:rPr>
                        <a:t>Best hyperparameters</a:t>
                      </a:r>
                    </a:p>
                  </a:txBody>
                  <a:tcPr marL="54864" marR="54864" marT="27432" marB="27432">
                    <a:solidFill>
                      <a:srgbClr val="1F3B57"/>
                    </a:solidFill>
                  </a:tcPr>
                </a:tc>
                <a:tc>
                  <a:txBody>
                    <a:bodyPr/>
                    <a:lstStyle/>
                    <a:p>
                      <a:r>
                        <a:rPr sz="1000" b="1">
                          <a:solidFill>
                            <a:srgbClr val="FFFFFF"/>
                          </a:solidFill>
                          <a:latin typeface="Calibri"/>
                        </a:rPr>
                        <a:t>CV PR-AUC</a:t>
                      </a:r>
                    </a:p>
                  </a:txBody>
                  <a:tcPr marL="54864" marR="54864" marT="27432" marB="27432">
                    <a:solidFill>
                      <a:srgbClr val="1F3B57"/>
                    </a:solidFill>
                  </a:tcPr>
                </a:tc>
                <a:tc>
                  <a:txBody>
                    <a:bodyPr/>
                    <a:lstStyle/>
                    <a:p>
                      <a:r>
                        <a:rPr sz="1000" b="1">
                          <a:solidFill>
                            <a:srgbClr val="FFFFFF"/>
                          </a:solidFill>
                          <a:latin typeface="Calibri"/>
                        </a:rPr>
                        <a:t>Val PR-AUC</a:t>
                      </a:r>
                    </a:p>
                  </a:txBody>
                  <a:tcPr marL="54864" marR="54864" marT="27432" marB="27432">
                    <a:solidFill>
                      <a:srgbClr val="1F3B57"/>
                    </a:solidFill>
                  </a:tcPr>
                </a:tc>
                <a:tc>
                  <a:txBody>
                    <a:bodyPr/>
                    <a:lstStyle/>
                    <a:p>
                      <a:r>
                        <a:rPr sz="1000" b="1">
                          <a:solidFill>
                            <a:srgbClr val="FFFFFF"/>
                          </a:solidFill>
                          <a:latin typeface="Calibri"/>
                        </a:rPr>
                        <a:t>Val ROC-AUC</a:t>
                      </a:r>
                    </a:p>
                  </a:txBody>
                  <a:tcPr marL="54864" marR="54864" marT="27432" marB="27432">
                    <a:solidFill>
                      <a:srgbClr val="1F3B57"/>
                    </a:solidFill>
                  </a:tcPr>
                </a:tc>
              </a:tr>
              <a:tr h="548640">
                <a:tc>
                  <a:txBody>
                    <a:bodyPr/>
                    <a:lstStyle/>
                    <a:p>
                      <a:r>
                        <a:rPr sz="1000">
                          <a:solidFill>
                            <a:srgbClr val="1F2A37"/>
                          </a:solidFill>
                          <a:latin typeface="Calibri"/>
                        </a:rPr>
                        <a:t>Logistic regression</a:t>
                      </a:r>
                    </a:p>
                  </a:txBody>
                  <a:tcPr marL="54864" marR="54864" marT="27432" marB="27432">
                    <a:solidFill>
                      <a:srgbClr val="F3F6F8"/>
                    </a:solidFill>
                  </a:tcPr>
                </a:tc>
                <a:tc>
                  <a:txBody>
                    <a:bodyPr/>
                    <a:lstStyle/>
                    <a:p>
                      <a:r>
                        <a:rPr sz="1000">
                          <a:solidFill>
                            <a:srgbClr val="1F2A37"/>
                          </a:solidFill>
                          <a:latin typeface="Calibri"/>
                        </a:rPr>
                        <a:t>C=0.02162; penalty=l2</a:t>
                      </a:r>
                    </a:p>
                  </a:txBody>
                  <a:tcPr marL="54864" marR="54864" marT="27432" marB="27432">
                    <a:solidFill>
                      <a:srgbClr val="F3F6F8"/>
                    </a:solidFill>
                  </a:tcPr>
                </a:tc>
                <a:tc>
                  <a:txBody>
                    <a:bodyPr/>
                    <a:lstStyle/>
                    <a:p>
                      <a:r>
                        <a:rPr sz="1000">
                          <a:solidFill>
                            <a:srgbClr val="1F2A37"/>
                          </a:solidFill>
                          <a:latin typeface="Calibri"/>
                        </a:rPr>
                        <a:t>0.362 ± 0.007</a:t>
                      </a:r>
                    </a:p>
                  </a:txBody>
                  <a:tcPr marL="54864" marR="54864" marT="27432" marB="27432">
                    <a:solidFill>
                      <a:srgbClr val="F3F6F8"/>
                    </a:solidFill>
                  </a:tcPr>
                </a:tc>
                <a:tc>
                  <a:txBody>
                    <a:bodyPr/>
                    <a:lstStyle/>
                    <a:p>
                      <a:r>
                        <a:rPr sz="1000">
                          <a:solidFill>
                            <a:srgbClr val="1F2A37"/>
                          </a:solidFill>
                          <a:latin typeface="Calibri"/>
                        </a:rPr>
                        <a:t>0.371</a:t>
                      </a:r>
                    </a:p>
                  </a:txBody>
                  <a:tcPr marL="54864" marR="54864" marT="27432" marB="27432">
                    <a:solidFill>
                      <a:srgbClr val="F3F6F8"/>
                    </a:solidFill>
                  </a:tcPr>
                </a:tc>
                <a:tc>
                  <a:txBody>
                    <a:bodyPr/>
                    <a:lstStyle/>
                    <a:p>
                      <a:r>
                        <a:rPr sz="1000">
                          <a:solidFill>
                            <a:srgbClr val="1F2A37"/>
                          </a:solidFill>
                          <a:latin typeface="Calibri"/>
                        </a:rPr>
                        <a:t>0.730</a:t>
                      </a:r>
                    </a:p>
                  </a:txBody>
                  <a:tcPr marL="54864" marR="54864" marT="27432" marB="27432">
                    <a:solidFill>
                      <a:srgbClr val="F3F6F8"/>
                    </a:solidFill>
                  </a:tcPr>
                </a:tc>
              </a:tr>
              <a:tr h="548640">
                <a:tc>
                  <a:txBody>
                    <a:bodyPr/>
                    <a:lstStyle/>
                    <a:p>
                      <a:r>
                        <a:rPr sz="1000">
                          <a:solidFill>
                            <a:srgbClr val="1F2A37"/>
                          </a:solidFill>
                          <a:latin typeface="Calibri"/>
                        </a:rPr>
                        <a:t>Random forest</a:t>
                      </a:r>
                    </a:p>
                  </a:txBody>
                  <a:tcPr marL="54864" marR="54864" marT="27432" marB="27432">
                    <a:solidFill>
                      <a:srgbClr val="FFFFFF"/>
                    </a:solidFill>
                  </a:tcPr>
                </a:tc>
                <a:tc>
                  <a:txBody>
                    <a:bodyPr/>
                    <a:lstStyle/>
                    <a:p>
                      <a:r>
                        <a:rPr sz="1000">
                          <a:solidFill>
                            <a:srgbClr val="1F2A37"/>
                          </a:solidFill>
                          <a:latin typeface="Calibri"/>
                        </a:rPr>
                        <a:t>n_estimators=200; min_samples_leaf=20; max_features=0.5; max_depth=8</a:t>
                      </a:r>
                    </a:p>
                  </a:txBody>
                  <a:tcPr marL="54864" marR="54864" marT="27432" marB="27432">
                    <a:solidFill>
                      <a:srgbClr val="FFFFFF"/>
                    </a:solidFill>
                  </a:tcPr>
                </a:tc>
                <a:tc>
                  <a:txBody>
                    <a:bodyPr/>
                    <a:lstStyle/>
                    <a:p>
                      <a:r>
                        <a:rPr sz="1000">
                          <a:solidFill>
                            <a:srgbClr val="1F2A37"/>
                          </a:solidFill>
                          <a:latin typeface="Calibri"/>
                        </a:rPr>
                        <a:t>0.377 ± 0.003</a:t>
                      </a:r>
                    </a:p>
                  </a:txBody>
                  <a:tcPr marL="54864" marR="54864" marT="27432" marB="27432">
                    <a:solidFill>
                      <a:srgbClr val="FFFFFF"/>
                    </a:solidFill>
                  </a:tcPr>
                </a:tc>
                <a:tc>
                  <a:txBody>
                    <a:bodyPr/>
                    <a:lstStyle/>
                    <a:p>
                      <a:r>
                        <a:rPr sz="1000">
                          <a:solidFill>
                            <a:srgbClr val="1F2A37"/>
                          </a:solidFill>
                          <a:latin typeface="Calibri"/>
                        </a:rPr>
                        <a:t>0.383</a:t>
                      </a:r>
                    </a:p>
                  </a:txBody>
                  <a:tcPr marL="54864" marR="54864" marT="27432" marB="27432">
                    <a:solidFill>
                      <a:srgbClr val="FFFFFF"/>
                    </a:solidFill>
                  </a:tcPr>
                </a:tc>
                <a:tc>
                  <a:txBody>
                    <a:bodyPr/>
                    <a:lstStyle/>
                    <a:p>
                      <a:r>
                        <a:rPr sz="1000">
                          <a:solidFill>
                            <a:srgbClr val="1F2A37"/>
                          </a:solidFill>
                          <a:latin typeface="Calibri"/>
                        </a:rPr>
                        <a:t>0.739</a:t>
                      </a:r>
                    </a:p>
                  </a:txBody>
                  <a:tcPr marL="54864" marR="54864" marT="27432" marB="27432">
                    <a:solidFill>
                      <a:srgbClr val="FFFFFF"/>
                    </a:solidFill>
                  </a:tcPr>
                </a:tc>
              </a:tr>
              <a:tr h="548640">
                <a:tc>
                  <a:txBody>
                    <a:bodyPr/>
                    <a:lstStyle/>
                    <a:p>
                      <a:r>
                        <a:rPr sz="1000">
                          <a:solidFill>
                            <a:srgbClr val="1F2A37"/>
                          </a:solidFill>
                          <a:latin typeface="Calibri"/>
                        </a:rPr>
                        <a:t>XGBoost</a:t>
                      </a:r>
                    </a:p>
                  </a:txBody>
                  <a:tcPr marL="54864" marR="54864" marT="27432" marB="27432">
                    <a:solidFill>
                      <a:srgbClr val="F3F6F8"/>
                    </a:solidFill>
                  </a:tcPr>
                </a:tc>
                <a:tc>
                  <a:txBody>
                    <a:bodyPr/>
                    <a:lstStyle/>
                    <a:p>
                      <a:r>
                        <a:rPr sz="1000">
                          <a:solidFill>
                            <a:srgbClr val="1F2A37"/>
                          </a:solidFill>
                          <a:latin typeface="Calibri"/>
                        </a:rPr>
                        <a:t>subsample=1.0; n_estimators=200; min_child_weight=5; max_depth=3; learning_rate=0.05; colsample_bytree=1.0</a:t>
                      </a:r>
                    </a:p>
                  </a:txBody>
                  <a:tcPr marL="54864" marR="54864" marT="27432" marB="27432">
                    <a:solidFill>
                      <a:srgbClr val="F3F6F8"/>
                    </a:solidFill>
                  </a:tcPr>
                </a:tc>
                <a:tc>
                  <a:txBody>
                    <a:bodyPr/>
                    <a:lstStyle/>
                    <a:p>
                      <a:r>
                        <a:rPr sz="1000">
                          <a:solidFill>
                            <a:srgbClr val="1F2A37"/>
                          </a:solidFill>
                          <a:latin typeface="Calibri"/>
                        </a:rPr>
                        <a:t>0.378 ± 0.002</a:t>
                      </a:r>
                    </a:p>
                  </a:txBody>
                  <a:tcPr marL="54864" marR="54864" marT="27432" marB="27432">
                    <a:solidFill>
                      <a:srgbClr val="F3F6F8"/>
                    </a:solidFill>
                  </a:tcPr>
                </a:tc>
                <a:tc>
                  <a:txBody>
                    <a:bodyPr/>
                    <a:lstStyle/>
                    <a:p>
                      <a:r>
                        <a:rPr sz="1000">
                          <a:solidFill>
                            <a:srgbClr val="1F2A37"/>
                          </a:solidFill>
                          <a:latin typeface="Calibri"/>
                        </a:rPr>
                        <a:t>0.381</a:t>
                      </a:r>
                    </a:p>
                  </a:txBody>
                  <a:tcPr marL="54864" marR="54864" marT="27432" marB="27432">
                    <a:solidFill>
                      <a:srgbClr val="F3F6F8"/>
                    </a:solidFill>
                  </a:tcPr>
                </a:tc>
                <a:tc>
                  <a:txBody>
                    <a:bodyPr/>
                    <a:lstStyle/>
                    <a:p>
                      <a:r>
                        <a:rPr sz="1000">
                          <a:solidFill>
                            <a:srgbClr val="1F2A37"/>
                          </a:solidFill>
                          <a:latin typeface="Calibri"/>
                        </a:rPr>
                        <a:t>0.739</a:t>
                      </a:r>
                    </a:p>
                  </a:txBody>
                  <a:tcPr marL="54864" marR="54864" marT="27432" marB="27432">
                    <a:solidFill>
                      <a:srgbClr val="F3F6F8"/>
                    </a:solidFill>
                  </a:tcPr>
                </a:tc>
              </a:tr>
            </a:tbl>
          </a:graphicData>
        </a:graphic>
      </p:graphicFrame>
      <p:sp>
        <p:nvSpPr>
          <p:cNvPr id="8" name="TextBox 7"/>
          <p:cNvSpPr txBox="1"/>
          <p:nvPr/>
        </p:nvSpPr>
        <p:spPr>
          <a:xfrm>
            <a:off x="411480" y="3840480"/>
            <a:ext cx="11338560" cy="182880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Randomized search, 12 candidates per algorithm, 3-fold StratifiedGroupKFold grouped by patient, scoring PR-AUC; class weights for imbalance (no resampling).</a:t>
            </a:r>
          </a:p>
          <a:p>
            <a:pPr algn="l">
              <a:spcAft>
                <a:spcPts val="400"/>
              </a:spcAft>
            </a:pPr>
            <a:r>
              <a:rPr sz="1100" b="0">
                <a:solidFill>
                  <a:srgbClr val="1F2A37"/>
                </a:solidFill>
                <a:latin typeface="Calibri"/>
              </a:rPr>
              <a:t>Champion chosen on validation PR-AUC. Thresholds set on validation: High = highest threshold reaching 70% recall (0.556); Medium at 90 % recall (0.463).</a:t>
            </a:r>
          </a:p>
          <a:p>
            <a:pPr algn="l">
              <a:spcAft>
                <a:spcPts val="400"/>
              </a:spcAft>
            </a:pPr>
            <a:r>
              <a:rPr sz="1100" b="0">
                <a:solidFill>
                  <a:srgbClr val="1F2A37"/>
                </a:solidFill>
                <a:latin typeface="Calibri"/>
              </a:rPr>
              <a:t>Every candidate logged as a nested MLflow run; champion registered with alias 'champion' at stage Staging.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A3 · Full performance metrics (Module 3 test split)</a:t>
            </a:r>
          </a:p>
        </p:txBody>
      </p:sp>
      <p:sp>
        <p:nvSpPr>
          <p:cNvPr id="4" name="Rectangle 3"/>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6" name="TextBox 5"/>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19</a:t>
            </a:r>
          </a:p>
        </p:txBody>
      </p:sp>
      <p:graphicFrame>
        <p:nvGraphicFramePr>
          <p:cNvPr id="7" name="Table 6"/>
          <p:cNvGraphicFramePr>
            <a:graphicFrameLocks noGrp="1"/>
          </p:cNvGraphicFramePr>
          <p:nvPr/>
        </p:nvGraphicFramePr>
        <p:xfrm>
          <a:off x="411480" y="1188720"/>
          <a:ext cx="11338560" cy="2468880"/>
        </p:xfrm>
        <a:graphic>
          <a:graphicData uri="http://schemas.openxmlformats.org/drawingml/2006/table">
            <a:tbl>
              <a:tblPr firstRow="1" bandRow="1">
                <a:tableStyleId>{5C22544A-7EE6-4342-B048-85BDC9FD1C3A}</a:tableStyleId>
              </a:tblPr>
              <a:tblGrid>
                <a:gridCol w="1030778"/>
                <a:gridCol w="1030778"/>
                <a:gridCol w="1030778"/>
                <a:gridCol w="1030778"/>
                <a:gridCol w="1030778"/>
                <a:gridCol w="1030778"/>
                <a:gridCol w="1030778"/>
                <a:gridCol w="1030778"/>
                <a:gridCol w="1030778"/>
                <a:gridCol w="1030778"/>
                <a:gridCol w="1030780"/>
              </a:tblGrid>
              <a:tr h="411480">
                <a:tc>
                  <a:txBody>
                    <a:bodyPr/>
                    <a:lstStyle/>
                    <a:p>
                      <a:r>
                        <a:rPr sz="1000" b="1">
                          <a:solidFill>
                            <a:srgbClr val="FFFFFF"/>
                          </a:solidFill>
                          <a:latin typeface="Calibri"/>
                        </a:rPr>
                        <a:t>Model</a:t>
                      </a:r>
                    </a:p>
                  </a:txBody>
                  <a:tcPr marL="54864" marR="54864" marT="27432" marB="27432">
                    <a:solidFill>
                      <a:srgbClr val="1F3B57"/>
                    </a:solidFill>
                  </a:tcPr>
                </a:tc>
                <a:tc>
                  <a:txBody>
                    <a:bodyPr/>
                    <a:lstStyle/>
                    <a:p>
                      <a:r>
                        <a:rPr sz="1000" b="1">
                          <a:solidFill>
                            <a:srgbClr val="FFFFFF"/>
                          </a:solidFill>
                          <a:latin typeface="Calibri"/>
                        </a:rPr>
                        <a:t>Threshold</a:t>
                      </a:r>
                    </a:p>
                  </a:txBody>
                  <a:tcPr marL="54864" marR="54864" marT="27432" marB="27432">
                    <a:solidFill>
                      <a:srgbClr val="1F3B57"/>
                    </a:solidFill>
                  </a:tcPr>
                </a:tc>
                <a:tc>
                  <a:txBody>
                    <a:bodyPr/>
                    <a:lstStyle/>
                    <a:p>
                      <a:r>
                        <a:rPr sz="1000" b="1">
                          <a:solidFill>
                            <a:srgbClr val="FFFFFF"/>
                          </a:solidFill>
                          <a:latin typeface="Calibri"/>
                        </a:rPr>
                        <a:t>Accuracy</a:t>
                      </a:r>
                    </a:p>
                  </a:txBody>
                  <a:tcPr marL="54864" marR="54864" marT="27432" marB="27432">
                    <a:solidFill>
                      <a:srgbClr val="1F3B57"/>
                    </a:solidFill>
                  </a:tcPr>
                </a:tc>
                <a:tc>
                  <a:txBody>
                    <a:bodyPr/>
                    <a:lstStyle/>
                    <a:p>
                      <a:r>
                        <a:rPr sz="1000" b="1">
                          <a:solidFill>
                            <a:srgbClr val="FFFFFF"/>
                          </a:solidFill>
                          <a:latin typeface="Calibri"/>
                        </a:rPr>
                        <a:t>Precision</a:t>
                      </a:r>
                    </a:p>
                  </a:txBody>
                  <a:tcPr marL="54864" marR="54864" marT="27432" marB="27432">
                    <a:solidFill>
                      <a:srgbClr val="1F3B57"/>
                    </a:solidFill>
                  </a:tcPr>
                </a:tc>
                <a:tc>
                  <a:txBody>
                    <a:bodyPr/>
                    <a:lstStyle/>
                    <a:p>
                      <a:r>
                        <a:rPr sz="1000" b="1">
                          <a:solidFill>
                            <a:srgbClr val="FFFFFF"/>
                          </a:solidFill>
                          <a:latin typeface="Calibri"/>
                        </a:rPr>
                        <a:t>Recall</a:t>
                      </a:r>
                    </a:p>
                  </a:txBody>
                  <a:tcPr marL="54864" marR="54864" marT="27432" marB="27432">
                    <a:solidFill>
                      <a:srgbClr val="1F3B57"/>
                    </a:solidFill>
                  </a:tcPr>
                </a:tc>
                <a:tc>
                  <a:txBody>
                    <a:bodyPr/>
                    <a:lstStyle/>
                    <a:p>
                      <a:r>
                        <a:rPr sz="1000" b="1">
                          <a:solidFill>
                            <a:srgbClr val="FFFFFF"/>
                          </a:solidFill>
                          <a:latin typeface="Calibri"/>
                        </a:rPr>
                        <a:t>F1</a:t>
                      </a:r>
                    </a:p>
                  </a:txBody>
                  <a:tcPr marL="54864" marR="54864" marT="27432" marB="27432">
                    <a:solidFill>
                      <a:srgbClr val="1F3B57"/>
                    </a:solidFill>
                  </a:tcPr>
                </a:tc>
                <a:tc>
                  <a:txBody>
                    <a:bodyPr/>
                    <a:lstStyle/>
                    <a:p>
                      <a:r>
                        <a:rPr sz="1000" b="1">
                          <a:solidFill>
                            <a:srgbClr val="FFFFFF"/>
                          </a:solidFill>
                          <a:latin typeface="Calibri"/>
                        </a:rPr>
                        <a:t>ROC-AUC</a:t>
                      </a:r>
                    </a:p>
                  </a:txBody>
                  <a:tcPr marL="54864" marR="54864" marT="27432" marB="27432">
                    <a:solidFill>
                      <a:srgbClr val="1F3B57"/>
                    </a:solidFill>
                  </a:tcPr>
                </a:tc>
                <a:tc>
                  <a:txBody>
                    <a:bodyPr/>
                    <a:lstStyle/>
                    <a:p>
                      <a:r>
                        <a:rPr sz="1000" b="1">
                          <a:solidFill>
                            <a:srgbClr val="FFFFFF"/>
                          </a:solidFill>
                          <a:latin typeface="Calibri"/>
                        </a:rPr>
                        <a:t>PR-AUC</a:t>
                      </a:r>
                    </a:p>
                  </a:txBody>
                  <a:tcPr marL="54864" marR="54864" marT="27432" marB="27432">
                    <a:solidFill>
                      <a:srgbClr val="1F3B57"/>
                    </a:solidFill>
                  </a:tcPr>
                </a:tc>
                <a:tc>
                  <a:txBody>
                    <a:bodyPr/>
                    <a:lstStyle/>
                    <a:p>
                      <a:r>
                        <a:rPr sz="1000" b="1">
                          <a:solidFill>
                            <a:srgbClr val="FFFFFF"/>
                          </a:solidFill>
                          <a:latin typeface="Calibri"/>
                        </a:rPr>
                        <a:t>Brier</a:t>
                      </a:r>
                    </a:p>
                  </a:txBody>
                  <a:tcPr marL="54864" marR="54864" marT="27432" marB="27432">
                    <a:solidFill>
                      <a:srgbClr val="1F3B57"/>
                    </a:solidFill>
                  </a:tcPr>
                </a:tc>
                <a:tc>
                  <a:txBody>
                    <a:bodyPr/>
                    <a:lstStyle/>
                    <a:p>
                      <a:r>
                        <a:rPr sz="1000" b="1">
                          <a:solidFill>
                            <a:srgbClr val="FFFFFF"/>
                          </a:solidFill>
                          <a:latin typeface="Calibri"/>
                        </a:rPr>
                        <a:t>Flag rate</a:t>
                      </a:r>
                    </a:p>
                  </a:txBody>
                  <a:tcPr marL="54864" marR="54864" marT="27432" marB="27432">
                    <a:solidFill>
                      <a:srgbClr val="1F3B57"/>
                    </a:solidFill>
                  </a:tcPr>
                </a:tc>
                <a:tc>
                  <a:txBody>
                    <a:bodyPr/>
                    <a:lstStyle/>
                    <a:p>
                      <a:r>
                        <a:rPr sz="1000" b="1">
                          <a:solidFill>
                            <a:srgbClr val="FFFFFF"/>
                          </a:solidFill>
                          <a:latin typeface="Calibri"/>
                        </a:rPr>
                        <a:t>TP / FP / FN / TN</a:t>
                      </a:r>
                    </a:p>
                  </a:txBody>
                  <a:tcPr marL="54864" marR="54864" marT="27432" marB="27432">
                    <a:solidFill>
                      <a:srgbClr val="1F3B57"/>
                    </a:solidFill>
                  </a:tcPr>
                </a:tc>
              </a:tr>
              <a:tr h="411480">
                <a:tc>
                  <a:txBody>
                    <a:bodyPr/>
                    <a:lstStyle/>
                    <a:p>
                      <a:r>
                        <a:rPr sz="1000">
                          <a:solidFill>
                            <a:srgbClr val="1F2A37"/>
                          </a:solidFill>
                          <a:latin typeface="Calibri"/>
                        </a:rPr>
                        <a:t>Everyone attends</a:t>
                      </a:r>
                    </a:p>
                  </a:txBody>
                  <a:tcPr marL="54864" marR="54864" marT="27432" marB="27432">
                    <a:solidFill>
                      <a:srgbClr val="F3F6F8"/>
                    </a:solidFill>
                  </a:tcPr>
                </a:tc>
                <a:tc>
                  <a:txBody>
                    <a:bodyPr/>
                    <a:lstStyle/>
                    <a:p>
                      <a:r>
                        <a:rPr sz="1000">
                          <a:solidFill>
                            <a:srgbClr val="1F2A37"/>
                          </a:solidFill>
                          <a:latin typeface="Calibri"/>
                        </a:rPr>
                        <a:t>0.500</a:t>
                      </a:r>
                    </a:p>
                  </a:txBody>
                  <a:tcPr marL="54864" marR="54864" marT="27432" marB="27432">
                    <a:solidFill>
                      <a:srgbClr val="F3F6F8"/>
                    </a:solidFill>
                  </a:tcPr>
                </a:tc>
                <a:tc>
                  <a:txBody>
                    <a:bodyPr/>
                    <a:lstStyle/>
                    <a:p>
                      <a:r>
                        <a:rPr sz="1000">
                          <a:solidFill>
                            <a:srgbClr val="1F2A37"/>
                          </a:solidFill>
                          <a:latin typeface="Calibri"/>
                        </a:rPr>
                        <a:t>0.797</a:t>
                      </a:r>
                    </a:p>
                  </a:txBody>
                  <a:tcPr marL="54864" marR="54864" marT="27432" marB="27432">
                    <a:solidFill>
                      <a:srgbClr val="F3F6F8"/>
                    </a:solidFill>
                  </a:tcPr>
                </a:tc>
                <a:tc>
                  <a:txBody>
                    <a:bodyPr/>
                    <a:lstStyle/>
                    <a:p>
                      <a:r>
                        <a:rPr sz="1000">
                          <a:solidFill>
                            <a:srgbClr val="1F2A37"/>
                          </a:solidFill>
                          <a:latin typeface="Calibri"/>
                        </a:rPr>
                        <a:t>0.000</a:t>
                      </a:r>
                    </a:p>
                  </a:txBody>
                  <a:tcPr marL="54864" marR="54864" marT="27432" marB="27432">
                    <a:solidFill>
                      <a:srgbClr val="F3F6F8"/>
                    </a:solidFill>
                  </a:tcPr>
                </a:tc>
                <a:tc>
                  <a:txBody>
                    <a:bodyPr/>
                    <a:lstStyle/>
                    <a:p>
                      <a:r>
                        <a:rPr sz="1000">
                          <a:solidFill>
                            <a:srgbClr val="1F2A37"/>
                          </a:solidFill>
                          <a:latin typeface="Calibri"/>
                        </a:rPr>
                        <a:t>0.000</a:t>
                      </a:r>
                    </a:p>
                  </a:txBody>
                  <a:tcPr marL="54864" marR="54864" marT="27432" marB="27432">
                    <a:solidFill>
                      <a:srgbClr val="F3F6F8"/>
                    </a:solidFill>
                  </a:tcPr>
                </a:tc>
                <a:tc>
                  <a:txBody>
                    <a:bodyPr/>
                    <a:lstStyle/>
                    <a:p>
                      <a:r>
                        <a:rPr sz="1000">
                          <a:solidFill>
                            <a:srgbClr val="1F2A37"/>
                          </a:solidFill>
                          <a:latin typeface="Calibri"/>
                        </a:rPr>
                        <a:t>0.000</a:t>
                      </a:r>
                    </a:p>
                  </a:txBody>
                  <a:tcPr marL="54864" marR="54864" marT="27432" marB="27432">
                    <a:solidFill>
                      <a:srgbClr val="F3F6F8"/>
                    </a:solidFill>
                  </a:tcPr>
                </a:tc>
                <a:tc>
                  <a:txBody>
                    <a:bodyPr/>
                    <a:lstStyle/>
                    <a:p>
                      <a:r>
                        <a:rPr sz="1000">
                          <a:solidFill>
                            <a:srgbClr val="1F2A37"/>
                          </a:solidFill>
                          <a:latin typeface="Calibri"/>
                        </a:rPr>
                        <a:t>0.500</a:t>
                      </a:r>
                    </a:p>
                  </a:txBody>
                  <a:tcPr marL="54864" marR="54864" marT="27432" marB="27432">
                    <a:solidFill>
                      <a:srgbClr val="F3F6F8"/>
                    </a:solidFill>
                  </a:tcPr>
                </a:tc>
                <a:tc>
                  <a:txBody>
                    <a:bodyPr/>
                    <a:lstStyle/>
                    <a:p>
                      <a:r>
                        <a:rPr sz="1000">
                          <a:solidFill>
                            <a:srgbClr val="1F2A37"/>
                          </a:solidFill>
                          <a:latin typeface="Calibri"/>
                        </a:rPr>
                        <a:t>0.203</a:t>
                      </a:r>
                    </a:p>
                  </a:txBody>
                  <a:tcPr marL="54864" marR="54864" marT="27432" marB="27432">
                    <a:solidFill>
                      <a:srgbClr val="F3F6F8"/>
                    </a:solidFill>
                  </a:tcPr>
                </a:tc>
                <a:tc>
                  <a:txBody>
                    <a:bodyPr/>
                    <a:lstStyle/>
                    <a:p>
                      <a:r>
                        <a:rPr sz="1000">
                          <a:solidFill>
                            <a:srgbClr val="1F2A37"/>
                          </a:solidFill>
                          <a:latin typeface="Calibri"/>
                        </a:rPr>
                        <a:t>0.203</a:t>
                      </a:r>
                    </a:p>
                  </a:txBody>
                  <a:tcPr marL="54864" marR="54864" marT="27432" marB="27432">
                    <a:solidFill>
                      <a:srgbClr val="F3F6F8"/>
                    </a:solidFill>
                  </a:tcPr>
                </a:tc>
                <a:tc>
                  <a:txBody>
                    <a:bodyPr/>
                    <a:lstStyle/>
                    <a:p>
                      <a:r>
                        <a:rPr sz="1000">
                          <a:solidFill>
                            <a:srgbClr val="1F2A37"/>
                          </a:solidFill>
                          <a:latin typeface="Calibri"/>
                        </a:rPr>
                        <a:t>0.0%</a:t>
                      </a:r>
                    </a:p>
                  </a:txBody>
                  <a:tcPr marL="54864" marR="54864" marT="27432" marB="27432">
                    <a:solidFill>
                      <a:srgbClr val="F3F6F8"/>
                    </a:solidFill>
                  </a:tcPr>
                </a:tc>
                <a:tc>
                  <a:txBody>
                    <a:bodyPr/>
                    <a:lstStyle/>
                    <a:p>
                      <a:r>
                        <a:rPr sz="1000">
                          <a:solidFill>
                            <a:srgbClr val="1F2A37"/>
                          </a:solidFill>
                          <a:latin typeface="Calibri"/>
                        </a:rPr>
                        <a:t>0 / 0 / 3,350 / 13,170</a:t>
                      </a:r>
                    </a:p>
                  </a:txBody>
                  <a:tcPr marL="54864" marR="54864" marT="27432" marB="27432">
                    <a:solidFill>
                      <a:srgbClr val="F3F6F8"/>
                    </a:solidFill>
                  </a:tcPr>
                </a:tc>
              </a:tr>
              <a:tr h="411480">
                <a:tc>
                  <a:txBody>
                    <a:bodyPr/>
                    <a:lstStyle/>
                    <a:p>
                      <a:r>
                        <a:rPr sz="1000">
                          <a:solidFill>
                            <a:srgbClr val="1F2A37"/>
                          </a:solidFill>
                          <a:latin typeface="Calibri"/>
                        </a:rPr>
                        <a:t>Lead-time rule (no ML)</a:t>
                      </a:r>
                    </a:p>
                  </a:txBody>
                  <a:tcPr marL="54864" marR="54864" marT="27432" marB="27432">
                    <a:solidFill>
                      <a:srgbClr val="FFFFFF"/>
                    </a:solidFill>
                  </a:tcPr>
                </a:tc>
                <a:tc>
                  <a:txBody>
                    <a:bodyPr/>
                    <a:lstStyle/>
                    <a:p>
                      <a:r>
                        <a:rPr sz="1000">
                          <a:solidFill>
                            <a:srgbClr val="1F2A37"/>
                          </a:solidFill>
                          <a:latin typeface="Calibri"/>
                        </a:rPr>
                        <a:t>5.000</a:t>
                      </a:r>
                    </a:p>
                  </a:txBody>
                  <a:tcPr marL="54864" marR="54864" marT="27432" marB="27432">
                    <a:solidFill>
                      <a:srgbClr val="FFFFFF"/>
                    </a:solidFill>
                  </a:tcPr>
                </a:tc>
                <a:tc>
                  <a:txBody>
                    <a:bodyPr/>
                    <a:lstStyle/>
                    <a:p>
                      <a:r>
                        <a:rPr sz="1000">
                          <a:solidFill>
                            <a:srgbClr val="1F2A37"/>
                          </a:solidFill>
                          <a:latin typeface="Calibri"/>
                        </a:rPr>
                        <a:t>0.622</a:t>
                      </a:r>
                    </a:p>
                  </a:txBody>
                  <a:tcPr marL="54864" marR="54864" marT="27432" marB="27432">
                    <a:solidFill>
                      <a:srgbClr val="FFFFFF"/>
                    </a:solidFill>
                  </a:tcPr>
                </a:tc>
                <a:tc>
                  <a:txBody>
                    <a:bodyPr/>
                    <a:lstStyle/>
                    <a:p>
                      <a:r>
                        <a:rPr sz="1000">
                          <a:solidFill>
                            <a:srgbClr val="1F2A37"/>
                          </a:solidFill>
                          <a:latin typeface="Calibri"/>
                        </a:rPr>
                        <a:t>0.313</a:t>
                      </a:r>
                    </a:p>
                  </a:txBody>
                  <a:tcPr marL="54864" marR="54864" marT="27432" marB="27432">
                    <a:solidFill>
                      <a:srgbClr val="FFFFFF"/>
                    </a:solidFill>
                  </a:tcPr>
                </a:tc>
                <a:tc>
                  <a:txBody>
                    <a:bodyPr/>
                    <a:lstStyle/>
                    <a:p>
                      <a:r>
                        <a:rPr sz="1000">
                          <a:solidFill>
                            <a:srgbClr val="1F2A37"/>
                          </a:solidFill>
                          <a:latin typeface="Calibri"/>
                        </a:rPr>
                        <a:t>0.722</a:t>
                      </a:r>
                    </a:p>
                  </a:txBody>
                  <a:tcPr marL="54864" marR="54864" marT="27432" marB="27432">
                    <a:solidFill>
                      <a:srgbClr val="FFFFFF"/>
                    </a:solidFill>
                  </a:tcPr>
                </a:tc>
                <a:tc>
                  <a:txBody>
                    <a:bodyPr/>
                    <a:lstStyle/>
                    <a:p>
                      <a:r>
                        <a:rPr sz="1000">
                          <a:solidFill>
                            <a:srgbClr val="1F2A37"/>
                          </a:solidFill>
                          <a:latin typeface="Calibri"/>
                        </a:rPr>
                        <a:t>0.437</a:t>
                      </a:r>
                    </a:p>
                  </a:txBody>
                  <a:tcPr marL="54864" marR="54864" marT="27432" marB="27432">
                    <a:solidFill>
                      <a:srgbClr val="FFFFFF"/>
                    </a:solidFill>
                  </a:tcPr>
                </a:tc>
                <a:tc>
                  <a:txBody>
                    <a:bodyPr/>
                    <a:lstStyle/>
                    <a:p>
                      <a:r>
                        <a:rPr sz="1000">
                          <a:solidFill>
                            <a:srgbClr val="1F2A37"/>
                          </a:solidFill>
                          <a:latin typeface="Calibri"/>
                        </a:rPr>
                        <a:t>0.709</a:t>
                      </a:r>
                    </a:p>
                  </a:txBody>
                  <a:tcPr marL="54864" marR="54864" marT="27432" marB="27432">
                    <a:solidFill>
                      <a:srgbClr val="FFFFFF"/>
                    </a:solidFill>
                  </a:tcPr>
                </a:tc>
                <a:tc>
                  <a:txBody>
                    <a:bodyPr/>
                    <a:lstStyle/>
                    <a:p>
                      <a:r>
                        <a:rPr sz="1000">
                          <a:solidFill>
                            <a:srgbClr val="1F2A37"/>
                          </a:solidFill>
                          <a:latin typeface="Calibri"/>
                        </a:rPr>
                        <a:t>0.317</a:t>
                      </a:r>
                    </a:p>
                  </a:txBody>
                  <a:tcPr marL="54864" marR="54864" marT="27432" marB="27432">
                    <a:solidFill>
                      <a:srgbClr val="FFFFFF"/>
                    </a:solidFill>
                  </a:tcPr>
                </a:tc>
                <a:tc>
                  <a:txBody>
                    <a:bodyPr/>
                    <a:lstStyle/>
                    <a:p>
                      <a:r>
                        <a:rPr sz="1000">
                          <a:solidFill>
                            <a:srgbClr val="1F2A37"/>
                          </a:solidFill>
                          <a:latin typeface="Calibri"/>
                        </a:rPr>
                        <a:t>n/a</a:t>
                      </a:r>
                    </a:p>
                  </a:txBody>
                  <a:tcPr marL="54864" marR="54864" marT="27432" marB="27432">
                    <a:solidFill>
                      <a:srgbClr val="FFFFFF"/>
                    </a:solidFill>
                  </a:tcPr>
                </a:tc>
                <a:tc>
                  <a:txBody>
                    <a:bodyPr/>
                    <a:lstStyle/>
                    <a:p>
                      <a:r>
                        <a:rPr sz="1000">
                          <a:solidFill>
                            <a:srgbClr val="1F2A37"/>
                          </a:solidFill>
                          <a:latin typeface="Calibri"/>
                        </a:rPr>
                        <a:t>46.8%</a:t>
                      </a:r>
                    </a:p>
                  </a:txBody>
                  <a:tcPr marL="54864" marR="54864" marT="27432" marB="27432">
                    <a:solidFill>
                      <a:srgbClr val="FFFFFF"/>
                    </a:solidFill>
                  </a:tcPr>
                </a:tc>
                <a:tc>
                  <a:txBody>
                    <a:bodyPr/>
                    <a:lstStyle/>
                    <a:p>
                      <a:r>
                        <a:rPr sz="1000">
                          <a:solidFill>
                            <a:srgbClr val="1F2A37"/>
                          </a:solidFill>
                          <a:latin typeface="Calibri"/>
                        </a:rPr>
                        <a:t>2,420 / 5,308 / 930 / 7,862</a:t>
                      </a:r>
                    </a:p>
                  </a:txBody>
                  <a:tcPr marL="54864" marR="54864" marT="27432" marB="27432">
                    <a:solidFill>
                      <a:srgbClr val="FFFFFF"/>
                    </a:solidFill>
                  </a:tcPr>
                </a:tc>
              </a:tr>
              <a:tr h="411480">
                <a:tc>
                  <a:txBody>
                    <a:bodyPr/>
                    <a:lstStyle/>
                    <a:p>
                      <a:r>
                        <a:rPr sz="1000">
                          <a:solidFill>
                            <a:srgbClr val="1F2A37"/>
                          </a:solidFill>
                          <a:latin typeface="Calibri"/>
                        </a:rPr>
                        <a:t>Logistic regression</a:t>
                      </a:r>
                    </a:p>
                  </a:txBody>
                  <a:tcPr marL="54864" marR="54864" marT="27432" marB="27432">
                    <a:solidFill>
                      <a:srgbClr val="F3F6F8"/>
                    </a:solidFill>
                  </a:tcPr>
                </a:tc>
                <a:tc>
                  <a:txBody>
                    <a:bodyPr/>
                    <a:lstStyle/>
                    <a:p>
                      <a:r>
                        <a:rPr sz="1000">
                          <a:solidFill>
                            <a:srgbClr val="1F2A37"/>
                          </a:solidFill>
                          <a:latin typeface="Calibri"/>
                        </a:rPr>
                        <a:t>0.558</a:t>
                      </a:r>
                    </a:p>
                  </a:txBody>
                  <a:tcPr marL="54864" marR="54864" marT="27432" marB="27432">
                    <a:solidFill>
                      <a:srgbClr val="F3F6F8"/>
                    </a:solidFill>
                  </a:tcPr>
                </a:tc>
                <a:tc>
                  <a:txBody>
                    <a:bodyPr/>
                    <a:lstStyle/>
                    <a:p>
                      <a:r>
                        <a:rPr sz="1000">
                          <a:solidFill>
                            <a:srgbClr val="1F2A37"/>
                          </a:solidFill>
                          <a:latin typeface="Calibri"/>
                        </a:rPr>
                        <a:t>0.646</a:t>
                      </a:r>
                    </a:p>
                  </a:txBody>
                  <a:tcPr marL="54864" marR="54864" marT="27432" marB="27432">
                    <a:solidFill>
                      <a:srgbClr val="F3F6F8"/>
                    </a:solidFill>
                  </a:tcPr>
                </a:tc>
                <a:tc>
                  <a:txBody>
                    <a:bodyPr/>
                    <a:lstStyle/>
                    <a:p>
                      <a:r>
                        <a:rPr sz="1000">
                          <a:solidFill>
                            <a:srgbClr val="1F2A37"/>
                          </a:solidFill>
                          <a:latin typeface="Calibri"/>
                        </a:rPr>
                        <a:t>0.327</a:t>
                      </a:r>
                    </a:p>
                  </a:txBody>
                  <a:tcPr marL="54864" marR="54864" marT="27432" marB="27432">
                    <a:solidFill>
                      <a:srgbClr val="F3F6F8"/>
                    </a:solidFill>
                  </a:tcPr>
                </a:tc>
                <a:tc>
                  <a:txBody>
                    <a:bodyPr/>
                    <a:lstStyle/>
                    <a:p>
                      <a:r>
                        <a:rPr sz="1000">
                          <a:solidFill>
                            <a:srgbClr val="1F2A37"/>
                          </a:solidFill>
                          <a:latin typeface="Calibri"/>
                        </a:rPr>
                        <a:t>0.705</a:t>
                      </a:r>
                    </a:p>
                  </a:txBody>
                  <a:tcPr marL="54864" marR="54864" marT="27432" marB="27432">
                    <a:solidFill>
                      <a:srgbClr val="F3F6F8"/>
                    </a:solidFill>
                  </a:tcPr>
                </a:tc>
                <a:tc>
                  <a:txBody>
                    <a:bodyPr/>
                    <a:lstStyle/>
                    <a:p>
                      <a:r>
                        <a:rPr sz="1000">
                          <a:solidFill>
                            <a:srgbClr val="1F2A37"/>
                          </a:solidFill>
                          <a:latin typeface="Calibri"/>
                        </a:rPr>
                        <a:t>0.447</a:t>
                      </a:r>
                    </a:p>
                  </a:txBody>
                  <a:tcPr marL="54864" marR="54864" marT="27432" marB="27432">
                    <a:solidFill>
                      <a:srgbClr val="F3F6F8"/>
                    </a:solidFill>
                  </a:tcPr>
                </a:tc>
                <a:tc>
                  <a:txBody>
                    <a:bodyPr/>
                    <a:lstStyle/>
                    <a:p>
                      <a:r>
                        <a:rPr sz="1000">
                          <a:solidFill>
                            <a:srgbClr val="1F2A37"/>
                          </a:solidFill>
                          <a:latin typeface="Calibri"/>
                        </a:rPr>
                        <a:t>0.727</a:t>
                      </a:r>
                    </a:p>
                  </a:txBody>
                  <a:tcPr marL="54864" marR="54864" marT="27432" marB="27432">
                    <a:solidFill>
                      <a:srgbClr val="F3F6F8"/>
                    </a:solidFill>
                  </a:tcPr>
                </a:tc>
                <a:tc>
                  <a:txBody>
                    <a:bodyPr/>
                    <a:lstStyle/>
                    <a:p>
                      <a:r>
                        <a:rPr sz="1000">
                          <a:solidFill>
                            <a:srgbClr val="1F2A37"/>
                          </a:solidFill>
                          <a:latin typeface="Calibri"/>
                        </a:rPr>
                        <a:t>0.360</a:t>
                      </a:r>
                    </a:p>
                  </a:txBody>
                  <a:tcPr marL="54864" marR="54864" marT="27432" marB="27432">
                    <a:solidFill>
                      <a:srgbClr val="F3F6F8"/>
                    </a:solidFill>
                  </a:tcPr>
                </a:tc>
                <a:tc>
                  <a:txBody>
                    <a:bodyPr/>
                    <a:lstStyle/>
                    <a:p>
                      <a:r>
                        <a:rPr sz="1000">
                          <a:solidFill>
                            <a:srgbClr val="1F2A37"/>
                          </a:solidFill>
                          <a:latin typeface="Calibri"/>
                        </a:rPr>
                        <a:t>0.213</a:t>
                      </a:r>
                    </a:p>
                  </a:txBody>
                  <a:tcPr marL="54864" marR="54864" marT="27432" marB="27432">
                    <a:solidFill>
                      <a:srgbClr val="F3F6F8"/>
                    </a:solidFill>
                  </a:tcPr>
                </a:tc>
                <a:tc>
                  <a:txBody>
                    <a:bodyPr/>
                    <a:lstStyle/>
                    <a:p>
                      <a:r>
                        <a:rPr sz="1000">
                          <a:solidFill>
                            <a:srgbClr val="1F2A37"/>
                          </a:solidFill>
                          <a:latin typeface="Calibri"/>
                        </a:rPr>
                        <a:t>43.8%</a:t>
                      </a:r>
                    </a:p>
                  </a:txBody>
                  <a:tcPr marL="54864" marR="54864" marT="27432" marB="27432">
                    <a:solidFill>
                      <a:srgbClr val="F3F6F8"/>
                    </a:solidFill>
                  </a:tcPr>
                </a:tc>
                <a:tc>
                  <a:txBody>
                    <a:bodyPr/>
                    <a:lstStyle/>
                    <a:p>
                      <a:r>
                        <a:rPr sz="1000">
                          <a:solidFill>
                            <a:srgbClr val="1F2A37"/>
                          </a:solidFill>
                          <a:latin typeface="Calibri"/>
                        </a:rPr>
                        <a:t>2,363 / 4,867 / 987 / 8,303</a:t>
                      </a:r>
                    </a:p>
                  </a:txBody>
                  <a:tcPr marL="54864" marR="54864" marT="27432" marB="27432">
                    <a:solidFill>
                      <a:srgbClr val="F3F6F8"/>
                    </a:solidFill>
                  </a:tcPr>
                </a:tc>
              </a:tr>
              <a:tr h="411480">
                <a:tc>
                  <a:txBody>
                    <a:bodyPr/>
                    <a:lstStyle/>
                    <a:p>
                      <a:r>
                        <a:rPr sz="1000">
                          <a:solidFill>
                            <a:srgbClr val="1F2A37"/>
                          </a:solidFill>
                          <a:latin typeface="Calibri"/>
                        </a:rPr>
                        <a:t>Random forest</a:t>
                      </a:r>
                    </a:p>
                  </a:txBody>
                  <a:tcPr marL="54864" marR="54864" marT="27432" marB="27432">
                    <a:solidFill>
                      <a:srgbClr val="FFFFFF"/>
                    </a:solidFill>
                  </a:tcPr>
                </a:tc>
                <a:tc>
                  <a:txBody>
                    <a:bodyPr/>
                    <a:lstStyle/>
                    <a:p>
                      <a:r>
                        <a:rPr sz="1000">
                          <a:solidFill>
                            <a:srgbClr val="1F2A37"/>
                          </a:solidFill>
                          <a:latin typeface="Calibri"/>
                        </a:rPr>
                        <a:t>0.556</a:t>
                      </a:r>
                    </a:p>
                  </a:txBody>
                  <a:tcPr marL="54864" marR="54864" marT="27432" marB="27432">
                    <a:solidFill>
                      <a:srgbClr val="FFFFFF"/>
                    </a:solidFill>
                  </a:tcPr>
                </a:tc>
                <a:tc>
                  <a:txBody>
                    <a:bodyPr/>
                    <a:lstStyle/>
                    <a:p>
                      <a:r>
                        <a:rPr sz="1000">
                          <a:solidFill>
                            <a:srgbClr val="1F2A37"/>
                          </a:solidFill>
                          <a:latin typeface="Calibri"/>
                        </a:rPr>
                        <a:t>0.653</a:t>
                      </a:r>
                    </a:p>
                  </a:txBody>
                  <a:tcPr marL="54864" marR="54864" marT="27432" marB="27432">
                    <a:solidFill>
                      <a:srgbClr val="FFFFFF"/>
                    </a:solidFill>
                  </a:tcPr>
                </a:tc>
                <a:tc>
                  <a:txBody>
                    <a:bodyPr/>
                    <a:lstStyle/>
                    <a:p>
                      <a:r>
                        <a:rPr sz="1000">
                          <a:solidFill>
                            <a:srgbClr val="1F2A37"/>
                          </a:solidFill>
                          <a:latin typeface="Calibri"/>
                        </a:rPr>
                        <a:t>0.334</a:t>
                      </a:r>
                    </a:p>
                  </a:txBody>
                  <a:tcPr marL="54864" marR="54864" marT="27432" marB="27432">
                    <a:solidFill>
                      <a:srgbClr val="FFFFFF"/>
                    </a:solidFill>
                  </a:tcPr>
                </a:tc>
                <a:tc>
                  <a:txBody>
                    <a:bodyPr/>
                    <a:lstStyle/>
                    <a:p>
                      <a:r>
                        <a:rPr sz="1000">
                          <a:solidFill>
                            <a:srgbClr val="1F2A37"/>
                          </a:solidFill>
                          <a:latin typeface="Calibri"/>
                        </a:rPr>
                        <a:t>0.715</a:t>
                      </a:r>
                    </a:p>
                  </a:txBody>
                  <a:tcPr marL="54864" marR="54864" marT="27432" marB="27432">
                    <a:solidFill>
                      <a:srgbClr val="FFFFFF"/>
                    </a:solidFill>
                  </a:tcPr>
                </a:tc>
                <a:tc>
                  <a:txBody>
                    <a:bodyPr/>
                    <a:lstStyle/>
                    <a:p>
                      <a:r>
                        <a:rPr sz="1000">
                          <a:solidFill>
                            <a:srgbClr val="1F2A37"/>
                          </a:solidFill>
                          <a:latin typeface="Calibri"/>
                        </a:rPr>
                        <a:t>0.455</a:t>
                      </a:r>
                    </a:p>
                  </a:txBody>
                  <a:tcPr marL="54864" marR="54864" marT="27432" marB="27432">
                    <a:solidFill>
                      <a:srgbClr val="FFFFFF"/>
                    </a:solidFill>
                  </a:tcPr>
                </a:tc>
                <a:tc>
                  <a:txBody>
                    <a:bodyPr/>
                    <a:lstStyle/>
                    <a:p>
                      <a:r>
                        <a:rPr sz="1000">
                          <a:solidFill>
                            <a:srgbClr val="1F2A37"/>
                          </a:solidFill>
                          <a:latin typeface="Calibri"/>
                        </a:rPr>
                        <a:t>0.741</a:t>
                      </a:r>
                    </a:p>
                  </a:txBody>
                  <a:tcPr marL="54864" marR="54864" marT="27432" marB="27432">
                    <a:solidFill>
                      <a:srgbClr val="FFFFFF"/>
                    </a:solidFill>
                  </a:tcPr>
                </a:tc>
                <a:tc>
                  <a:txBody>
                    <a:bodyPr/>
                    <a:lstStyle/>
                    <a:p>
                      <a:r>
                        <a:rPr sz="1000">
                          <a:solidFill>
                            <a:srgbClr val="1F2A37"/>
                          </a:solidFill>
                          <a:latin typeface="Calibri"/>
                        </a:rPr>
                        <a:t>0.387</a:t>
                      </a:r>
                    </a:p>
                  </a:txBody>
                  <a:tcPr marL="54864" marR="54864" marT="27432" marB="27432">
                    <a:solidFill>
                      <a:srgbClr val="FFFFFF"/>
                    </a:solidFill>
                  </a:tcPr>
                </a:tc>
                <a:tc>
                  <a:txBody>
                    <a:bodyPr/>
                    <a:lstStyle/>
                    <a:p>
                      <a:r>
                        <a:rPr sz="1000">
                          <a:solidFill>
                            <a:srgbClr val="1F2A37"/>
                          </a:solidFill>
                          <a:latin typeface="Calibri"/>
                        </a:rPr>
                        <a:t>0.208</a:t>
                      </a:r>
                    </a:p>
                  </a:txBody>
                  <a:tcPr marL="54864" marR="54864" marT="27432" marB="27432">
                    <a:solidFill>
                      <a:srgbClr val="FFFFFF"/>
                    </a:solidFill>
                  </a:tcPr>
                </a:tc>
                <a:tc>
                  <a:txBody>
                    <a:bodyPr/>
                    <a:lstStyle/>
                    <a:p>
                      <a:r>
                        <a:rPr sz="1000">
                          <a:solidFill>
                            <a:srgbClr val="1F2A37"/>
                          </a:solidFill>
                          <a:latin typeface="Calibri"/>
                        </a:rPr>
                        <a:t>43.5%</a:t>
                      </a:r>
                    </a:p>
                  </a:txBody>
                  <a:tcPr marL="54864" marR="54864" marT="27432" marB="27432">
                    <a:solidFill>
                      <a:srgbClr val="FFFFFF"/>
                    </a:solidFill>
                  </a:tcPr>
                </a:tc>
                <a:tc>
                  <a:txBody>
                    <a:bodyPr/>
                    <a:lstStyle/>
                    <a:p>
                      <a:r>
                        <a:rPr sz="1000">
                          <a:solidFill>
                            <a:srgbClr val="1F2A37"/>
                          </a:solidFill>
                          <a:latin typeface="Calibri"/>
                        </a:rPr>
                        <a:t>2,394 / 4,784 / 956 / 8,386</a:t>
                      </a:r>
                    </a:p>
                  </a:txBody>
                  <a:tcPr marL="54864" marR="54864" marT="27432" marB="27432">
                    <a:solidFill>
                      <a:srgbClr val="FFFFFF"/>
                    </a:solidFill>
                  </a:tcPr>
                </a:tc>
              </a:tr>
              <a:tr h="411480">
                <a:tc>
                  <a:txBody>
                    <a:bodyPr/>
                    <a:lstStyle/>
                    <a:p>
                      <a:r>
                        <a:rPr sz="1000">
                          <a:solidFill>
                            <a:srgbClr val="1F2A37"/>
                          </a:solidFill>
                          <a:latin typeface="Calibri"/>
                        </a:rPr>
                        <a:t>XGBoost</a:t>
                      </a:r>
                    </a:p>
                  </a:txBody>
                  <a:tcPr marL="54864" marR="54864" marT="27432" marB="27432">
                    <a:solidFill>
                      <a:srgbClr val="F3F6F8"/>
                    </a:solidFill>
                  </a:tcPr>
                </a:tc>
                <a:tc>
                  <a:txBody>
                    <a:bodyPr/>
                    <a:lstStyle/>
                    <a:p>
                      <a:r>
                        <a:rPr sz="1000">
                          <a:solidFill>
                            <a:srgbClr val="1F2A37"/>
                          </a:solidFill>
                          <a:latin typeface="Calibri"/>
                        </a:rPr>
                        <a:t>0.559</a:t>
                      </a:r>
                    </a:p>
                  </a:txBody>
                  <a:tcPr marL="54864" marR="54864" marT="27432" marB="27432">
                    <a:solidFill>
                      <a:srgbClr val="F3F6F8"/>
                    </a:solidFill>
                  </a:tcPr>
                </a:tc>
                <a:tc>
                  <a:txBody>
                    <a:bodyPr/>
                    <a:lstStyle/>
                    <a:p>
                      <a:r>
                        <a:rPr sz="1000">
                          <a:solidFill>
                            <a:srgbClr val="1F2A37"/>
                          </a:solidFill>
                          <a:latin typeface="Calibri"/>
                        </a:rPr>
                        <a:t>0.652</a:t>
                      </a:r>
                    </a:p>
                  </a:txBody>
                  <a:tcPr marL="54864" marR="54864" marT="27432" marB="27432">
                    <a:solidFill>
                      <a:srgbClr val="F3F6F8"/>
                    </a:solidFill>
                  </a:tcPr>
                </a:tc>
                <a:tc>
                  <a:txBody>
                    <a:bodyPr/>
                    <a:lstStyle/>
                    <a:p>
                      <a:r>
                        <a:rPr sz="1000">
                          <a:solidFill>
                            <a:srgbClr val="1F2A37"/>
                          </a:solidFill>
                          <a:latin typeface="Calibri"/>
                        </a:rPr>
                        <a:t>0.333</a:t>
                      </a:r>
                    </a:p>
                  </a:txBody>
                  <a:tcPr marL="54864" marR="54864" marT="27432" marB="27432">
                    <a:solidFill>
                      <a:srgbClr val="F3F6F8"/>
                    </a:solidFill>
                  </a:tcPr>
                </a:tc>
                <a:tc>
                  <a:txBody>
                    <a:bodyPr/>
                    <a:lstStyle/>
                    <a:p>
                      <a:r>
                        <a:rPr sz="1000">
                          <a:solidFill>
                            <a:srgbClr val="1F2A37"/>
                          </a:solidFill>
                          <a:latin typeface="Calibri"/>
                        </a:rPr>
                        <a:t>0.715</a:t>
                      </a:r>
                    </a:p>
                  </a:txBody>
                  <a:tcPr marL="54864" marR="54864" marT="27432" marB="27432">
                    <a:solidFill>
                      <a:srgbClr val="F3F6F8"/>
                    </a:solidFill>
                  </a:tcPr>
                </a:tc>
                <a:tc>
                  <a:txBody>
                    <a:bodyPr/>
                    <a:lstStyle/>
                    <a:p>
                      <a:r>
                        <a:rPr sz="1000">
                          <a:solidFill>
                            <a:srgbClr val="1F2A37"/>
                          </a:solidFill>
                          <a:latin typeface="Calibri"/>
                        </a:rPr>
                        <a:t>0.454</a:t>
                      </a:r>
                    </a:p>
                  </a:txBody>
                  <a:tcPr marL="54864" marR="54864" marT="27432" marB="27432">
                    <a:solidFill>
                      <a:srgbClr val="F3F6F8"/>
                    </a:solidFill>
                  </a:tcPr>
                </a:tc>
                <a:tc>
                  <a:txBody>
                    <a:bodyPr/>
                    <a:lstStyle/>
                    <a:p>
                      <a:r>
                        <a:rPr sz="1000">
                          <a:solidFill>
                            <a:srgbClr val="1F2A37"/>
                          </a:solidFill>
                          <a:latin typeface="Calibri"/>
                        </a:rPr>
                        <a:t>0.742</a:t>
                      </a:r>
                    </a:p>
                  </a:txBody>
                  <a:tcPr marL="54864" marR="54864" marT="27432" marB="27432">
                    <a:solidFill>
                      <a:srgbClr val="F3F6F8"/>
                    </a:solidFill>
                  </a:tcPr>
                </a:tc>
                <a:tc>
                  <a:txBody>
                    <a:bodyPr/>
                    <a:lstStyle/>
                    <a:p>
                      <a:r>
                        <a:rPr sz="1000">
                          <a:solidFill>
                            <a:srgbClr val="1F2A37"/>
                          </a:solidFill>
                          <a:latin typeface="Calibri"/>
                        </a:rPr>
                        <a:t>0.388</a:t>
                      </a:r>
                    </a:p>
                  </a:txBody>
                  <a:tcPr marL="54864" marR="54864" marT="27432" marB="27432">
                    <a:solidFill>
                      <a:srgbClr val="F3F6F8"/>
                    </a:solidFill>
                  </a:tcPr>
                </a:tc>
                <a:tc>
                  <a:txBody>
                    <a:bodyPr/>
                    <a:lstStyle/>
                    <a:p>
                      <a:r>
                        <a:rPr sz="1000">
                          <a:solidFill>
                            <a:srgbClr val="1F2A37"/>
                          </a:solidFill>
                          <a:latin typeface="Calibri"/>
                        </a:rPr>
                        <a:t>0.209</a:t>
                      </a:r>
                    </a:p>
                  </a:txBody>
                  <a:tcPr marL="54864" marR="54864" marT="27432" marB="27432">
                    <a:solidFill>
                      <a:srgbClr val="F3F6F8"/>
                    </a:solidFill>
                  </a:tcPr>
                </a:tc>
                <a:tc>
                  <a:txBody>
                    <a:bodyPr/>
                    <a:lstStyle/>
                    <a:p>
                      <a:r>
                        <a:rPr sz="1000">
                          <a:solidFill>
                            <a:srgbClr val="1F2A37"/>
                          </a:solidFill>
                          <a:latin typeface="Calibri"/>
                        </a:rPr>
                        <a:t>43.6%</a:t>
                      </a:r>
                    </a:p>
                  </a:txBody>
                  <a:tcPr marL="54864" marR="54864" marT="27432" marB="27432">
                    <a:solidFill>
                      <a:srgbClr val="F3F6F8"/>
                    </a:solidFill>
                  </a:tcPr>
                </a:tc>
                <a:tc>
                  <a:txBody>
                    <a:bodyPr/>
                    <a:lstStyle/>
                    <a:p>
                      <a:r>
                        <a:rPr sz="1000">
                          <a:solidFill>
                            <a:srgbClr val="1F2A37"/>
                          </a:solidFill>
                          <a:latin typeface="Calibri"/>
                        </a:rPr>
                        <a:t>2,395 / 4,800 / 955 / 8,370</a:t>
                      </a:r>
                    </a:p>
                  </a:txBody>
                  <a:tcPr marL="54864" marR="54864" marT="27432" marB="27432">
                    <a:solidFill>
                      <a:srgbClr val="F3F6F8"/>
                    </a:solidFill>
                  </a:tcPr>
                </a:tc>
              </a:tr>
            </a:tbl>
          </a:graphicData>
        </a:graphic>
      </p:graphicFrame>
      <p:pic>
        <p:nvPicPr>
          <p:cNvPr id="8" name="Picture 7" descr="roc_pr_curves.png"/>
          <p:cNvPicPr>
            <a:picLocks noChangeAspect="1"/>
          </p:cNvPicPr>
          <p:nvPr/>
        </p:nvPicPr>
        <p:blipFill>
          <a:blip r:embed="rId2"/>
          <a:stretch>
            <a:fillRect/>
          </a:stretch>
        </p:blipFill>
        <p:spPr>
          <a:xfrm>
            <a:off x="411480" y="3840480"/>
            <a:ext cx="5878286" cy="24688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A4 · Fairness definitions and full metrics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Module 2 criteria; Fairlearn cross-check in Module 4</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20</a:t>
            </a:r>
          </a:p>
        </p:txBody>
      </p:sp>
      <p:sp>
        <p:nvSpPr>
          <p:cNvPr id="8" name="TextBox 7"/>
          <p:cNvSpPr txBox="1"/>
          <p:nvPr/>
        </p:nvSpPr>
        <p:spPr>
          <a:xfrm>
            <a:off x="411480" y="1188720"/>
            <a:ext cx="11338560" cy="118872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Equal opportunity / TPR gap (release threshold ≤ 0.10): difference in recall between best- and worst-served group. Equalized odds adds the false-positive-rate gap. Disparate impact ratio (diagnostic ≥ 0.80): lowest flag rate ÷ highest flag rate. Demographic parity difference: largest minus smallest flag rate. Favourable outcome = being flagged (it triggers support).</a:t>
            </a:r>
          </a:p>
        </p:txBody>
      </p:sp>
      <p:graphicFrame>
        <p:nvGraphicFramePr>
          <p:cNvPr id="9" name="Table 8"/>
          <p:cNvGraphicFramePr>
            <a:graphicFrameLocks noGrp="1"/>
          </p:cNvGraphicFramePr>
          <p:nvPr/>
        </p:nvGraphicFramePr>
        <p:xfrm>
          <a:off x="411480" y="2377440"/>
          <a:ext cx="11338560" cy="1737360"/>
        </p:xfrm>
        <a:graphic>
          <a:graphicData uri="http://schemas.openxmlformats.org/drawingml/2006/table">
            <a:tbl>
              <a:tblPr firstRow="1" bandRow="1">
                <a:tableStyleId>{5C22544A-7EE6-4342-B048-85BDC9FD1C3A}</a:tableStyleId>
              </a:tblPr>
              <a:tblGrid>
                <a:gridCol w="1417320"/>
                <a:gridCol w="1417320"/>
                <a:gridCol w="1417320"/>
                <a:gridCol w="1417320"/>
                <a:gridCol w="1417320"/>
                <a:gridCol w="1417320"/>
                <a:gridCol w="1417320"/>
                <a:gridCol w="1417320"/>
              </a:tblGrid>
              <a:tr h="347472">
                <a:tc>
                  <a:txBody>
                    <a:bodyPr/>
                    <a:lstStyle/>
                    <a:p>
                      <a:r>
                        <a:rPr sz="1000" b="1">
                          <a:solidFill>
                            <a:srgbClr val="FFFFFF"/>
                          </a:solidFill>
                          <a:latin typeface="Calibri"/>
                        </a:rPr>
                        <a:t>Attribute</a:t>
                      </a:r>
                    </a:p>
                  </a:txBody>
                  <a:tcPr marL="54864" marR="54864" marT="27432" marB="27432">
                    <a:solidFill>
                      <a:srgbClr val="1F3B57"/>
                    </a:solidFill>
                  </a:tcPr>
                </a:tc>
                <a:tc>
                  <a:txBody>
                    <a:bodyPr/>
                    <a:lstStyle/>
                    <a:p>
                      <a:r>
                        <a:rPr sz="1000" b="1">
                          <a:solidFill>
                            <a:srgbClr val="FFFFFF"/>
                          </a:solidFill>
                          <a:latin typeface="Calibri"/>
                        </a:rPr>
                        <a:t>DP diff</a:t>
                      </a:r>
                    </a:p>
                  </a:txBody>
                  <a:tcPr marL="54864" marR="54864" marT="27432" marB="27432">
                    <a:solidFill>
                      <a:srgbClr val="1F3B57"/>
                    </a:solidFill>
                  </a:tcPr>
                </a:tc>
                <a:tc>
                  <a:txBody>
                    <a:bodyPr/>
                    <a:lstStyle/>
                    <a:p>
                      <a:r>
                        <a:rPr sz="1000" b="1">
                          <a:solidFill>
                            <a:srgbClr val="FFFFFF"/>
                          </a:solidFill>
                          <a:latin typeface="Calibri"/>
                        </a:rPr>
                        <a:t>DI ratio</a:t>
                      </a:r>
                    </a:p>
                  </a:txBody>
                  <a:tcPr marL="54864" marR="54864" marT="27432" marB="27432">
                    <a:solidFill>
                      <a:srgbClr val="1F3B57"/>
                    </a:solidFill>
                  </a:tcPr>
                </a:tc>
                <a:tc>
                  <a:txBody>
                    <a:bodyPr/>
                    <a:lstStyle/>
                    <a:p>
                      <a:r>
                        <a:rPr sz="1000" b="1">
                          <a:solidFill>
                            <a:srgbClr val="FFFFFF"/>
                          </a:solidFill>
                          <a:latin typeface="Calibri"/>
                        </a:rPr>
                        <a:t>TPR gap</a:t>
                      </a:r>
                    </a:p>
                  </a:txBody>
                  <a:tcPr marL="54864" marR="54864" marT="27432" marB="27432">
                    <a:solidFill>
                      <a:srgbClr val="1F3B57"/>
                    </a:solidFill>
                  </a:tcPr>
                </a:tc>
                <a:tc>
                  <a:txBody>
                    <a:bodyPr/>
                    <a:lstStyle/>
                    <a:p>
                      <a:r>
                        <a:rPr sz="1000" b="1">
                          <a:solidFill>
                            <a:srgbClr val="FFFFFF"/>
                          </a:solidFill>
                          <a:latin typeface="Calibri"/>
                        </a:rPr>
                        <a:t>FPR gap</a:t>
                      </a:r>
                    </a:p>
                  </a:txBody>
                  <a:tcPr marL="54864" marR="54864" marT="27432" marB="27432">
                    <a:solidFill>
                      <a:srgbClr val="1F3B57"/>
                    </a:solidFill>
                  </a:tcPr>
                </a:tc>
                <a:tc>
                  <a:txBody>
                    <a:bodyPr/>
                    <a:lstStyle/>
                    <a:p>
                      <a:r>
                        <a:rPr sz="1000" b="1">
                          <a:solidFill>
                            <a:srgbClr val="FFFFFF"/>
                          </a:solidFill>
                          <a:latin typeface="Calibri"/>
                        </a:rPr>
                        <a:t>EO diff</a:t>
                      </a:r>
                    </a:p>
                  </a:txBody>
                  <a:tcPr marL="54864" marR="54864" marT="27432" marB="27432">
                    <a:solidFill>
                      <a:srgbClr val="1F3B57"/>
                    </a:solidFill>
                  </a:tcPr>
                </a:tc>
                <a:tc>
                  <a:txBody>
                    <a:bodyPr/>
                    <a:lstStyle/>
                    <a:p>
                      <a:r>
                        <a:rPr sz="1000" b="1">
                          <a:solidFill>
                            <a:srgbClr val="FFFFFF"/>
                          </a:solidFill>
                          <a:latin typeface="Calibri"/>
                        </a:rPr>
                        <a:t>TPR gap ≤ 0.10</a:t>
                      </a:r>
                    </a:p>
                  </a:txBody>
                  <a:tcPr marL="54864" marR="54864" marT="27432" marB="27432">
                    <a:solidFill>
                      <a:srgbClr val="1F3B57"/>
                    </a:solidFill>
                  </a:tcPr>
                </a:tc>
                <a:tc>
                  <a:txBody>
                    <a:bodyPr/>
                    <a:lstStyle/>
                    <a:p>
                      <a:r>
                        <a:rPr sz="1000" b="1">
                          <a:solidFill>
                            <a:srgbClr val="FFFFFF"/>
                          </a:solidFill>
                          <a:latin typeface="Calibri"/>
                        </a:rPr>
                        <a:t>DI ≥ 0.80</a:t>
                      </a:r>
                    </a:p>
                  </a:txBody>
                  <a:tcPr marL="54864" marR="54864" marT="27432" marB="27432">
                    <a:solidFill>
                      <a:srgbClr val="1F3B57"/>
                    </a:solidFill>
                  </a:tcPr>
                </a:tc>
              </a:tr>
              <a:tr h="347472">
                <a:tc>
                  <a:txBody>
                    <a:bodyPr/>
                    <a:lstStyle/>
                    <a:p>
                      <a:r>
                        <a:rPr sz="1000">
                          <a:solidFill>
                            <a:srgbClr val="1F2A37"/>
                          </a:solidFill>
                          <a:latin typeface="Calibri"/>
                        </a:rPr>
                        <a:t>Gender</a:t>
                      </a:r>
                    </a:p>
                  </a:txBody>
                  <a:tcPr marL="54864" marR="54864" marT="27432" marB="27432">
                    <a:solidFill>
                      <a:srgbClr val="F3F6F8"/>
                    </a:solidFill>
                  </a:tcPr>
                </a:tc>
                <a:tc>
                  <a:txBody>
                    <a:bodyPr/>
                    <a:lstStyle/>
                    <a:p>
                      <a:r>
                        <a:rPr sz="1000">
                          <a:solidFill>
                            <a:srgbClr val="1F2A37"/>
                          </a:solidFill>
                          <a:latin typeface="Calibri"/>
                        </a:rPr>
                        <a:t>0.017</a:t>
                      </a:r>
                    </a:p>
                  </a:txBody>
                  <a:tcPr marL="54864" marR="54864" marT="27432" marB="27432">
                    <a:solidFill>
                      <a:srgbClr val="F3F6F8"/>
                    </a:solidFill>
                  </a:tcPr>
                </a:tc>
                <a:tc>
                  <a:txBody>
                    <a:bodyPr/>
                    <a:lstStyle/>
                    <a:p>
                      <a:r>
                        <a:rPr sz="1000">
                          <a:solidFill>
                            <a:srgbClr val="1F2A37"/>
                          </a:solidFill>
                          <a:latin typeface="Calibri"/>
                        </a:rPr>
                        <a:t>0.960</a:t>
                      </a:r>
                    </a:p>
                  </a:txBody>
                  <a:tcPr marL="54864" marR="54864" marT="27432" marB="27432">
                    <a:solidFill>
                      <a:srgbClr val="F3F6F8"/>
                    </a:solidFill>
                  </a:tcPr>
                </a:tc>
                <a:tc>
                  <a:txBody>
                    <a:bodyPr/>
                    <a:lstStyle/>
                    <a:p>
                      <a:r>
                        <a:rPr sz="1000">
                          <a:solidFill>
                            <a:srgbClr val="1F2A37"/>
                          </a:solidFill>
                          <a:latin typeface="Calibri"/>
                        </a:rPr>
                        <a:t>0.012</a:t>
                      </a:r>
                    </a:p>
                  </a:txBody>
                  <a:tcPr marL="54864" marR="54864" marT="27432" marB="27432">
                    <a:solidFill>
                      <a:srgbClr val="F3F6F8"/>
                    </a:solidFill>
                  </a:tcPr>
                </a:tc>
                <a:tc>
                  <a:txBody>
                    <a:bodyPr/>
                    <a:lstStyle/>
                    <a:p>
                      <a:r>
                        <a:rPr sz="1000">
                          <a:solidFill>
                            <a:srgbClr val="1F2A37"/>
                          </a:solidFill>
                          <a:latin typeface="Calibri"/>
                        </a:rPr>
                        <a:t>0.017</a:t>
                      </a:r>
                    </a:p>
                  </a:txBody>
                  <a:tcPr marL="54864" marR="54864" marT="27432" marB="27432">
                    <a:solidFill>
                      <a:srgbClr val="F3F6F8"/>
                    </a:solidFill>
                  </a:tcPr>
                </a:tc>
                <a:tc>
                  <a:txBody>
                    <a:bodyPr/>
                    <a:lstStyle/>
                    <a:p>
                      <a:r>
                        <a:rPr sz="1000">
                          <a:solidFill>
                            <a:srgbClr val="1F2A37"/>
                          </a:solidFill>
                          <a:latin typeface="Calibri"/>
                        </a:rPr>
                        <a:t>0.017</a:t>
                      </a:r>
                    </a:p>
                  </a:txBody>
                  <a:tcPr marL="54864" marR="54864" marT="27432" marB="27432">
                    <a:solidFill>
                      <a:srgbClr val="F3F6F8"/>
                    </a:solidFill>
                  </a:tcPr>
                </a:tc>
                <a:tc>
                  <a:txBody>
                    <a:bodyPr/>
                    <a:lstStyle/>
                    <a:p>
                      <a:r>
                        <a:rPr sz="1000">
                          <a:solidFill>
                            <a:srgbClr val="1F2A37"/>
                          </a:solidFill>
                          <a:latin typeface="Calibri"/>
                        </a:rPr>
                        <a:t>yes</a:t>
                      </a:r>
                    </a:p>
                  </a:txBody>
                  <a:tcPr marL="54864" marR="54864" marT="27432" marB="27432">
                    <a:solidFill>
                      <a:srgbClr val="F3F6F8"/>
                    </a:solidFill>
                  </a:tcPr>
                </a:tc>
                <a:tc>
                  <a:txBody>
                    <a:bodyPr/>
                    <a:lstStyle/>
                    <a:p>
                      <a:r>
                        <a:rPr sz="1000">
                          <a:solidFill>
                            <a:srgbClr val="1F2A37"/>
                          </a:solidFill>
                          <a:latin typeface="Calibri"/>
                        </a:rPr>
                        <a:t>yes</a:t>
                      </a:r>
                    </a:p>
                  </a:txBody>
                  <a:tcPr marL="54864" marR="54864" marT="27432" marB="27432">
                    <a:solidFill>
                      <a:srgbClr val="F3F6F8"/>
                    </a:solidFill>
                  </a:tcPr>
                </a:tc>
              </a:tr>
              <a:tr h="347472">
                <a:tc>
                  <a:txBody>
                    <a:bodyPr/>
                    <a:lstStyle/>
                    <a:p>
                      <a:r>
                        <a:rPr sz="1000">
                          <a:solidFill>
                            <a:srgbClr val="1F2A37"/>
                          </a:solidFill>
                          <a:latin typeface="Calibri"/>
                        </a:rPr>
                        <a:t>Age band</a:t>
                      </a:r>
                    </a:p>
                  </a:txBody>
                  <a:tcPr marL="54864" marR="54864" marT="27432" marB="27432">
                    <a:solidFill>
                      <a:srgbClr val="FFFFFF"/>
                    </a:solidFill>
                  </a:tcPr>
                </a:tc>
                <a:tc>
                  <a:txBody>
                    <a:bodyPr/>
                    <a:lstStyle/>
                    <a:p>
                      <a:r>
                        <a:rPr sz="1000">
                          <a:solidFill>
                            <a:srgbClr val="1F2A37"/>
                          </a:solidFill>
                          <a:latin typeface="Calibri"/>
                        </a:rPr>
                        <a:t>0.534</a:t>
                      </a:r>
                    </a:p>
                  </a:txBody>
                  <a:tcPr marL="54864" marR="54864" marT="27432" marB="27432">
                    <a:solidFill>
                      <a:srgbClr val="FFFFFF"/>
                    </a:solidFill>
                  </a:tcPr>
                </a:tc>
                <a:tc>
                  <a:txBody>
                    <a:bodyPr/>
                    <a:lstStyle/>
                    <a:p>
                      <a:r>
                        <a:rPr sz="1000">
                          <a:solidFill>
                            <a:srgbClr val="1F2A37"/>
                          </a:solidFill>
                          <a:latin typeface="Calibri"/>
                        </a:rPr>
                        <a:t>0.158</a:t>
                      </a:r>
                    </a:p>
                  </a:txBody>
                  <a:tcPr marL="54864" marR="54864" marT="27432" marB="27432">
                    <a:solidFill>
                      <a:srgbClr val="FFFFFF"/>
                    </a:solidFill>
                  </a:tcPr>
                </a:tc>
                <a:tc>
                  <a:txBody>
                    <a:bodyPr/>
                    <a:lstStyle/>
                    <a:p>
                      <a:r>
                        <a:rPr sz="1000">
                          <a:solidFill>
                            <a:srgbClr val="1F2A37"/>
                          </a:solidFill>
                          <a:latin typeface="Calibri"/>
                        </a:rPr>
                        <a:t>0.728</a:t>
                      </a:r>
                    </a:p>
                  </a:txBody>
                  <a:tcPr marL="54864" marR="54864" marT="27432" marB="27432">
                    <a:solidFill>
                      <a:srgbClr val="FFFFFF"/>
                    </a:solidFill>
                  </a:tcPr>
                </a:tc>
                <a:tc>
                  <a:txBody>
                    <a:bodyPr/>
                    <a:lstStyle/>
                    <a:p>
                      <a:r>
                        <a:rPr sz="1000">
                          <a:solidFill>
                            <a:srgbClr val="1F2A37"/>
                          </a:solidFill>
                          <a:latin typeface="Calibri"/>
                        </a:rPr>
                        <a:t>0.458</a:t>
                      </a:r>
                    </a:p>
                  </a:txBody>
                  <a:tcPr marL="54864" marR="54864" marT="27432" marB="27432">
                    <a:solidFill>
                      <a:srgbClr val="FFFFFF"/>
                    </a:solidFill>
                  </a:tcPr>
                </a:tc>
                <a:tc>
                  <a:txBody>
                    <a:bodyPr/>
                    <a:lstStyle/>
                    <a:p>
                      <a:r>
                        <a:rPr sz="1000">
                          <a:solidFill>
                            <a:srgbClr val="1F2A37"/>
                          </a:solidFill>
                          <a:latin typeface="Calibri"/>
                        </a:rPr>
                        <a:t>0.728</a:t>
                      </a:r>
                    </a:p>
                  </a:txBody>
                  <a:tcPr marL="54864" marR="54864" marT="27432" marB="27432">
                    <a:solidFill>
                      <a:srgbClr val="FFFFFF"/>
                    </a:solidFill>
                  </a:tcPr>
                </a:tc>
                <a:tc>
                  <a:txBody>
                    <a:bodyPr/>
                    <a:lstStyle/>
                    <a:p>
                      <a:r>
                        <a:rPr sz="1000">
                          <a:solidFill>
                            <a:srgbClr val="1F2A37"/>
                          </a:solidFill>
                          <a:latin typeface="Calibri"/>
                        </a:rPr>
                        <a:t>no</a:t>
                      </a:r>
                    </a:p>
                  </a:txBody>
                  <a:tcPr marL="54864" marR="54864" marT="27432" marB="27432">
                    <a:solidFill>
                      <a:srgbClr val="FFFFFF"/>
                    </a:solidFill>
                  </a:tcPr>
                </a:tc>
                <a:tc>
                  <a:txBody>
                    <a:bodyPr/>
                    <a:lstStyle/>
                    <a:p>
                      <a:r>
                        <a:rPr sz="1000">
                          <a:solidFill>
                            <a:srgbClr val="1F2A37"/>
                          </a:solidFill>
                          <a:latin typeface="Calibri"/>
                        </a:rPr>
                        <a:t>no</a:t>
                      </a:r>
                    </a:p>
                  </a:txBody>
                  <a:tcPr marL="54864" marR="54864" marT="27432" marB="27432">
                    <a:solidFill>
                      <a:srgbClr val="FFFFFF"/>
                    </a:solidFill>
                  </a:tcPr>
                </a:tc>
              </a:tr>
              <a:tr h="347472">
                <a:tc>
                  <a:txBody>
                    <a:bodyPr/>
                    <a:lstStyle/>
                    <a:p>
                      <a:r>
                        <a:rPr sz="1000">
                          <a:solidFill>
                            <a:srgbClr val="1F2A37"/>
                          </a:solidFill>
                          <a:latin typeface="Calibri"/>
                        </a:rPr>
                        <a:t>Welfare enrolment</a:t>
                      </a:r>
                    </a:p>
                  </a:txBody>
                  <a:tcPr marL="54864" marR="54864" marT="27432" marB="27432">
                    <a:solidFill>
                      <a:srgbClr val="F3F6F8"/>
                    </a:solidFill>
                  </a:tcPr>
                </a:tc>
                <a:tc>
                  <a:txBody>
                    <a:bodyPr/>
                    <a:lstStyle/>
                    <a:p>
                      <a:r>
                        <a:rPr sz="1000">
                          <a:solidFill>
                            <a:srgbClr val="1F2A37"/>
                          </a:solidFill>
                          <a:latin typeface="Calibri"/>
                        </a:rPr>
                        <a:t>0.133</a:t>
                      </a:r>
                    </a:p>
                  </a:txBody>
                  <a:tcPr marL="54864" marR="54864" marT="27432" marB="27432">
                    <a:solidFill>
                      <a:srgbClr val="F3F6F8"/>
                    </a:solidFill>
                  </a:tcPr>
                </a:tc>
                <a:tc>
                  <a:txBody>
                    <a:bodyPr/>
                    <a:lstStyle/>
                    <a:p>
                      <a:r>
                        <a:rPr sz="1000">
                          <a:solidFill>
                            <a:srgbClr val="1F2A37"/>
                          </a:solidFill>
                          <a:latin typeface="Calibri"/>
                        </a:rPr>
                        <a:t>0.760</a:t>
                      </a:r>
                    </a:p>
                  </a:txBody>
                  <a:tcPr marL="54864" marR="54864" marT="27432" marB="27432">
                    <a:solidFill>
                      <a:srgbClr val="F3F6F8"/>
                    </a:solidFill>
                  </a:tcPr>
                </a:tc>
                <a:tc>
                  <a:txBody>
                    <a:bodyPr/>
                    <a:lstStyle/>
                    <a:p>
                      <a:r>
                        <a:rPr sz="1000">
                          <a:solidFill>
                            <a:srgbClr val="1F2A37"/>
                          </a:solidFill>
                          <a:latin typeface="Calibri"/>
                        </a:rPr>
                        <a:t>0.163</a:t>
                      </a:r>
                    </a:p>
                  </a:txBody>
                  <a:tcPr marL="54864" marR="54864" marT="27432" marB="27432">
                    <a:solidFill>
                      <a:srgbClr val="F3F6F8"/>
                    </a:solidFill>
                  </a:tcPr>
                </a:tc>
                <a:tc>
                  <a:txBody>
                    <a:bodyPr/>
                    <a:lstStyle/>
                    <a:p>
                      <a:r>
                        <a:rPr sz="1000">
                          <a:solidFill>
                            <a:srgbClr val="1F2A37"/>
                          </a:solidFill>
                          <a:latin typeface="Calibri"/>
                        </a:rPr>
                        <a:t>0.103</a:t>
                      </a:r>
                    </a:p>
                  </a:txBody>
                  <a:tcPr marL="54864" marR="54864" marT="27432" marB="27432">
                    <a:solidFill>
                      <a:srgbClr val="F3F6F8"/>
                    </a:solidFill>
                  </a:tcPr>
                </a:tc>
                <a:tc>
                  <a:txBody>
                    <a:bodyPr/>
                    <a:lstStyle/>
                    <a:p>
                      <a:r>
                        <a:rPr sz="1000">
                          <a:solidFill>
                            <a:srgbClr val="1F2A37"/>
                          </a:solidFill>
                          <a:latin typeface="Calibri"/>
                        </a:rPr>
                        <a:t>0.163</a:t>
                      </a:r>
                    </a:p>
                  </a:txBody>
                  <a:tcPr marL="54864" marR="54864" marT="27432" marB="27432">
                    <a:solidFill>
                      <a:srgbClr val="F3F6F8"/>
                    </a:solidFill>
                  </a:tcPr>
                </a:tc>
                <a:tc>
                  <a:txBody>
                    <a:bodyPr/>
                    <a:lstStyle/>
                    <a:p>
                      <a:r>
                        <a:rPr sz="1000">
                          <a:solidFill>
                            <a:srgbClr val="1F2A37"/>
                          </a:solidFill>
                          <a:latin typeface="Calibri"/>
                        </a:rPr>
                        <a:t>no</a:t>
                      </a:r>
                    </a:p>
                  </a:txBody>
                  <a:tcPr marL="54864" marR="54864" marT="27432" marB="27432">
                    <a:solidFill>
                      <a:srgbClr val="F3F6F8"/>
                    </a:solidFill>
                  </a:tcPr>
                </a:tc>
                <a:tc>
                  <a:txBody>
                    <a:bodyPr/>
                    <a:lstStyle/>
                    <a:p>
                      <a:r>
                        <a:rPr sz="1000">
                          <a:solidFill>
                            <a:srgbClr val="1F2A37"/>
                          </a:solidFill>
                          <a:latin typeface="Calibri"/>
                        </a:rPr>
                        <a:t>no</a:t>
                      </a:r>
                    </a:p>
                  </a:txBody>
                  <a:tcPr marL="54864" marR="54864" marT="27432" marB="27432">
                    <a:solidFill>
                      <a:srgbClr val="F3F6F8"/>
                    </a:solidFill>
                  </a:tcPr>
                </a:tc>
              </a:tr>
              <a:tr h="347472">
                <a:tc>
                  <a:txBody>
                    <a:bodyPr/>
                    <a:lstStyle/>
                    <a:p>
                      <a:r>
                        <a:rPr sz="1000">
                          <a:solidFill>
                            <a:srgbClr val="1F2A37"/>
                          </a:solidFill>
                          <a:latin typeface="Calibri"/>
                        </a:rPr>
                        <a:t>Disability recorded</a:t>
                      </a:r>
                    </a:p>
                  </a:txBody>
                  <a:tcPr marL="54864" marR="54864" marT="27432" marB="27432">
                    <a:solidFill>
                      <a:srgbClr val="FFFFFF"/>
                    </a:solidFill>
                  </a:tcPr>
                </a:tc>
                <a:tc>
                  <a:txBody>
                    <a:bodyPr/>
                    <a:lstStyle/>
                    <a:p>
                      <a:r>
                        <a:rPr sz="1000">
                          <a:solidFill>
                            <a:srgbClr val="1F2A37"/>
                          </a:solidFill>
                          <a:latin typeface="Calibri"/>
                        </a:rPr>
                        <a:t>0.140</a:t>
                      </a:r>
                    </a:p>
                  </a:txBody>
                  <a:tcPr marL="54864" marR="54864" marT="27432" marB="27432">
                    <a:solidFill>
                      <a:srgbClr val="FFFFFF"/>
                    </a:solidFill>
                  </a:tcPr>
                </a:tc>
                <a:tc>
                  <a:txBody>
                    <a:bodyPr/>
                    <a:lstStyle/>
                    <a:p>
                      <a:r>
                        <a:rPr sz="1000">
                          <a:solidFill>
                            <a:srgbClr val="1F2A37"/>
                          </a:solidFill>
                          <a:latin typeface="Calibri"/>
                        </a:rPr>
                        <a:t>0.680</a:t>
                      </a:r>
                    </a:p>
                  </a:txBody>
                  <a:tcPr marL="54864" marR="54864" marT="27432" marB="27432">
                    <a:solidFill>
                      <a:srgbClr val="FFFFFF"/>
                    </a:solidFill>
                  </a:tcPr>
                </a:tc>
                <a:tc>
                  <a:txBody>
                    <a:bodyPr/>
                    <a:lstStyle/>
                    <a:p>
                      <a:r>
                        <a:rPr sz="1000">
                          <a:solidFill>
                            <a:srgbClr val="1F2A37"/>
                          </a:solidFill>
                          <a:latin typeface="Calibri"/>
                        </a:rPr>
                        <a:t>0.201</a:t>
                      </a:r>
                    </a:p>
                  </a:txBody>
                  <a:tcPr marL="54864" marR="54864" marT="27432" marB="27432">
                    <a:solidFill>
                      <a:srgbClr val="FFFFFF"/>
                    </a:solidFill>
                  </a:tcPr>
                </a:tc>
                <a:tc>
                  <a:txBody>
                    <a:bodyPr/>
                    <a:lstStyle/>
                    <a:p>
                      <a:r>
                        <a:rPr sz="1000">
                          <a:solidFill>
                            <a:srgbClr val="1F2A37"/>
                          </a:solidFill>
                          <a:latin typeface="Calibri"/>
                        </a:rPr>
                        <a:t>0.116</a:t>
                      </a:r>
                    </a:p>
                  </a:txBody>
                  <a:tcPr marL="54864" marR="54864" marT="27432" marB="27432">
                    <a:solidFill>
                      <a:srgbClr val="FFFFFF"/>
                    </a:solidFill>
                  </a:tcPr>
                </a:tc>
                <a:tc>
                  <a:txBody>
                    <a:bodyPr/>
                    <a:lstStyle/>
                    <a:p>
                      <a:r>
                        <a:rPr sz="1000">
                          <a:solidFill>
                            <a:srgbClr val="1F2A37"/>
                          </a:solidFill>
                          <a:latin typeface="Calibri"/>
                        </a:rPr>
                        <a:t>0.201</a:t>
                      </a:r>
                    </a:p>
                  </a:txBody>
                  <a:tcPr marL="54864" marR="54864" marT="27432" marB="27432">
                    <a:solidFill>
                      <a:srgbClr val="FFFFFF"/>
                    </a:solidFill>
                  </a:tcPr>
                </a:tc>
                <a:tc>
                  <a:txBody>
                    <a:bodyPr/>
                    <a:lstStyle/>
                    <a:p>
                      <a:r>
                        <a:rPr sz="1000">
                          <a:solidFill>
                            <a:srgbClr val="1F2A37"/>
                          </a:solidFill>
                          <a:latin typeface="Calibri"/>
                        </a:rPr>
                        <a:t>no</a:t>
                      </a:r>
                    </a:p>
                  </a:txBody>
                  <a:tcPr marL="54864" marR="54864" marT="27432" marB="27432">
                    <a:solidFill>
                      <a:srgbClr val="FFFFFF"/>
                    </a:solidFill>
                  </a:tcPr>
                </a:tc>
                <a:tc>
                  <a:txBody>
                    <a:bodyPr/>
                    <a:lstStyle/>
                    <a:p>
                      <a:r>
                        <a:rPr sz="1000">
                          <a:solidFill>
                            <a:srgbClr val="1F2A37"/>
                          </a:solidFill>
                          <a:latin typeface="Calibri"/>
                        </a:rPr>
                        <a:t>no</a:t>
                      </a:r>
                    </a:p>
                  </a:txBody>
                  <a:tcPr marL="54864" marR="54864" marT="27432" marB="27432">
                    <a:solidFill>
                      <a:srgbClr val="FFFFFF"/>
                    </a:solidFill>
                  </a:tcPr>
                </a:tc>
              </a:tr>
            </a:tbl>
          </a:graphicData>
        </a:graphic>
      </p:graphicFrame>
      <p:sp>
        <p:nvSpPr>
          <p:cNvPr id="10" name="TextBox 9"/>
          <p:cNvSpPr txBox="1"/>
          <p:nvPr/>
        </p:nvSpPr>
        <p:spPr>
          <a:xfrm>
            <a:off x="411480" y="4297680"/>
            <a:ext cx="11338560" cy="146304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Mitigation: group-specific thresholds chosen on validation (equal opportunity). Group thresholds: 0-5=0.593, 18-34=0.629, 35-54=0.564, 55-69=0.474, 6-17=0.611, 70+=0.469.</a:t>
            </a:r>
          </a:p>
          <a:p>
            <a:pPr algn="l">
              <a:spcAft>
                <a:spcPts val="400"/>
              </a:spcAft>
            </a:pPr>
            <a:r>
              <a:rPr sz="1100" b="0">
                <a:solidFill>
                  <a:srgbClr val="1F2A37"/>
                </a:solidFill>
                <a:latin typeface="Calibri"/>
              </a:rPr>
              <a:t>Fairlearn ThresholdOptimizer cross-check: TPR gap 0.059, recall 0.903, flag rate 0.620.</a:t>
            </a:r>
          </a:p>
          <a:p>
            <a:pPr algn="l">
              <a:spcAft>
                <a:spcPts val="400"/>
              </a:spcAft>
            </a:pPr>
            <a:r>
              <a:rPr sz="1100" b="0">
                <a:solidFill>
                  <a:srgbClr val="1F2A37"/>
                </a:solidFill>
                <a:latin typeface="Calibri"/>
              </a:rPr>
              <a:t>Full per-group tables (n, base rate, flag rate, TPR, FPR, precision) are in the Module 4 Fairness Metrics Report and on the dashboard's ethical-compliance page.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A5 · Necessity review, sensitivity analysis and drift check</a:t>
            </a:r>
          </a:p>
        </p:txBody>
      </p:sp>
      <p:sp>
        <p:nvSpPr>
          <p:cNvPr id="4" name="Rectangle 3"/>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6" name="TextBox 5"/>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21</a:t>
            </a:r>
          </a:p>
        </p:txBody>
      </p:sp>
      <p:graphicFrame>
        <p:nvGraphicFramePr>
          <p:cNvPr id="7" name="Table 6"/>
          <p:cNvGraphicFramePr>
            <a:graphicFrameLocks noGrp="1"/>
          </p:cNvGraphicFramePr>
          <p:nvPr/>
        </p:nvGraphicFramePr>
        <p:xfrm>
          <a:off x="411480" y="1188720"/>
          <a:ext cx="5669280" cy="1097280"/>
        </p:xfrm>
        <a:graphic>
          <a:graphicData uri="http://schemas.openxmlformats.org/drawingml/2006/table">
            <a:tbl>
              <a:tblPr firstRow="1" bandRow="1">
                <a:tableStyleId>{5C22544A-7EE6-4342-B048-85BDC9FD1C3A}</a:tableStyleId>
              </a:tblPr>
              <a:tblGrid>
                <a:gridCol w="1133856"/>
                <a:gridCol w="1133856"/>
                <a:gridCol w="1133856"/>
                <a:gridCol w="1133856"/>
                <a:gridCol w="1133856"/>
              </a:tblGrid>
              <a:tr h="365760">
                <a:tc>
                  <a:txBody>
                    <a:bodyPr/>
                    <a:lstStyle/>
                    <a:p>
                      <a:r>
                        <a:rPr sz="1000" b="1">
                          <a:solidFill>
                            <a:srgbClr val="FFFFFF"/>
                          </a:solidFill>
                          <a:latin typeface="Calibri"/>
                        </a:rPr>
                        <a:t>Sensitive flag</a:t>
                      </a:r>
                    </a:p>
                  </a:txBody>
                  <a:tcPr marL="54864" marR="54864" marT="27432" marB="27432">
                    <a:solidFill>
                      <a:srgbClr val="1F3B57"/>
                    </a:solidFill>
                  </a:tcPr>
                </a:tc>
                <a:tc>
                  <a:txBody>
                    <a:bodyPr/>
                    <a:lstStyle/>
                    <a:p>
                      <a:r>
                        <a:rPr sz="1000" b="1">
                          <a:solidFill>
                            <a:srgbClr val="FFFFFF"/>
                          </a:solidFill>
                          <a:latin typeface="Calibri"/>
                        </a:rPr>
                        <a:t>CV PR-AUC with</a:t>
                      </a:r>
                    </a:p>
                  </a:txBody>
                  <a:tcPr marL="54864" marR="54864" marT="27432" marB="27432">
                    <a:solidFill>
                      <a:srgbClr val="1F3B57"/>
                    </a:solidFill>
                  </a:tcPr>
                </a:tc>
                <a:tc>
                  <a:txBody>
                    <a:bodyPr/>
                    <a:lstStyle/>
                    <a:p>
                      <a:r>
                        <a:rPr sz="1000" b="1">
                          <a:solidFill>
                            <a:srgbClr val="FFFFFF"/>
                          </a:solidFill>
                          <a:latin typeface="Calibri"/>
                        </a:rPr>
                        <a:t>CV PR-AUC without</a:t>
                      </a:r>
                    </a:p>
                  </a:txBody>
                  <a:tcPr marL="54864" marR="54864" marT="27432" marB="27432">
                    <a:solidFill>
                      <a:srgbClr val="1F3B57"/>
                    </a:solidFill>
                  </a:tcPr>
                </a:tc>
                <a:tc>
                  <a:txBody>
                    <a:bodyPr/>
                    <a:lstStyle/>
                    <a:p>
                      <a:r>
                        <a:rPr sz="1000" b="1">
                          <a:solidFill>
                            <a:srgbClr val="FFFFFF"/>
                          </a:solidFill>
                          <a:latin typeface="Calibri"/>
                        </a:rPr>
                        <a:t>Δ</a:t>
                      </a:r>
                    </a:p>
                  </a:txBody>
                  <a:tcPr marL="54864" marR="54864" marT="27432" marB="27432">
                    <a:solidFill>
                      <a:srgbClr val="1F3B57"/>
                    </a:solidFill>
                  </a:tcPr>
                </a:tc>
                <a:tc>
                  <a:txBody>
                    <a:bodyPr/>
                    <a:lstStyle/>
                    <a:p>
                      <a:r>
                        <a:rPr sz="1000" b="1">
                          <a:solidFill>
                            <a:srgbClr val="FFFFFF"/>
                          </a:solidFill>
                          <a:latin typeface="Calibri"/>
                        </a:rPr>
                        <a:t>Decision</a:t>
                      </a:r>
                    </a:p>
                  </a:txBody>
                  <a:tcPr marL="54864" marR="54864" marT="27432" marB="27432">
                    <a:solidFill>
                      <a:srgbClr val="1F3B57"/>
                    </a:solidFill>
                  </a:tcPr>
                </a:tc>
              </a:tr>
              <a:tr h="365760">
                <a:tc>
                  <a:txBody>
                    <a:bodyPr/>
                    <a:lstStyle/>
                    <a:p>
                      <a:r>
                        <a:rPr sz="1000">
                          <a:solidFill>
                            <a:srgbClr val="1F2A37"/>
                          </a:solidFill>
                          <a:latin typeface="Calibri"/>
                        </a:rPr>
                        <a:t>alcoholism</a:t>
                      </a:r>
                    </a:p>
                  </a:txBody>
                  <a:tcPr marL="54864" marR="54864" marT="27432" marB="27432">
                    <a:solidFill>
                      <a:srgbClr val="F3F6F8"/>
                    </a:solidFill>
                  </a:tcPr>
                </a:tc>
                <a:tc>
                  <a:txBody>
                    <a:bodyPr/>
                    <a:lstStyle/>
                    <a:p>
                      <a:r>
                        <a:rPr sz="1000">
                          <a:solidFill>
                            <a:srgbClr val="1F2A37"/>
                          </a:solidFill>
                          <a:latin typeface="Calibri"/>
                        </a:rPr>
                        <a:t>0.3775</a:t>
                      </a:r>
                    </a:p>
                  </a:txBody>
                  <a:tcPr marL="54864" marR="54864" marT="27432" marB="27432">
                    <a:solidFill>
                      <a:srgbClr val="F3F6F8"/>
                    </a:solidFill>
                  </a:tcPr>
                </a:tc>
                <a:tc>
                  <a:txBody>
                    <a:bodyPr/>
                    <a:lstStyle/>
                    <a:p>
                      <a:r>
                        <a:rPr sz="1000">
                          <a:solidFill>
                            <a:srgbClr val="1F2A37"/>
                          </a:solidFill>
                          <a:latin typeface="Calibri"/>
                        </a:rPr>
                        <a:t>0.3761</a:t>
                      </a:r>
                    </a:p>
                  </a:txBody>
                  <a:tcPr marL="54864" marR="54864" marT="27432" marB="27432">
                    <a:solidFill>
                      <a:srgbClr val="F3F6F8"/>
                    </a:solidFill>
                  </a:tcPr>
                </a:tc>
                <a:tc>
                  <a:txBody>
                    <a:bodyPr/>
                    <a:lstStyle/>
                    <a:p>
                      <a:r>
                        <a:rPr sz="1000">
                          <a:solidFill>
                            <a:srgbClr val="1F2A37"/>
                          </a:solidFill>
                          <a:latin typeface="Calibri"/>
                        </a:rPr>
                        <a:t>+0.0014</a:t>
                      </a:r>
                    </a:p>
                  </a:txBody>
                  <a:tcPr marL="54864" marR="54864" marT="27432" marB="27432">
                    <a:solidFill>
                      <a:srgbClr val="F3F6F8"/>
                    </a:solidFill>
                  </a:tcPr>
                </a:tc>
                <a:tc>
                  <a:txBody>
                    <a:bodyPr/>
                    <a:lstStyle/>
                    <a:p>
                      <a:r>
                        <a:rPr sz="1000">
                          <a:solidFill>
                            <a:srgbClr val="1F2A37"/>
                          </a:solidFill>
                          <a:latin typeface="Calibri"/>
                        </a:rPr>
                        <a:t>drop as input (audit only)</a:t>
                      </a:r>
                    </a:p>
                  </a:txBody>
                  <a:tcPr marL="54864" marR="54864" marT="27432" marB="27432">
                    <a:solidFill>
                      <a:srgbClr val="F3F6F8"/>
                    </a:solidFill>
                  </a:tcPr>
                </a:tc>
              </a:tr>
              <a:tr h="365760">
                <a:tc>
                  <a:txBody>
                    <a:bodyPr/>
                    <a:lstStyle/>
                    <a:p>
                      <a:r>
                        <a:rPr sz="1000">
                          <a:solidFill>
                            <a:srgbClr val="1F2A37"/>
                          </a:solidFill>
                          <a:latin typeface="Calibri"/>
                        </a:rPr>
                        <a:t>has_disability</a:t>
                      </a:r>
                    </a:p>
                  </a:txBody>
                  <a:tcPr marL="54864" marR="54864" marT="27432" marB="27432">
                    <a:solidFill>
                      <a:srgbClr val="FFFFFF"/>
                    </a:solidFill>
                  </a:tcPr>
                </a:tc>
                <a:tc>
                  <a:txBody>
                    <a:bodyPr/>
                    <a:lstStyle/>
                    <a:p>
                      <a:r>
                        <a:rPr sz="1000">
                          <a:solidFill>
                            <a:srgbClr val="1F2A37"/>
                          </a:solidFill>
                          <a:latin typeface="Calibri"/>
                        </a:rPr>
                        <a:t>0.3775</a:t>
                      </a:r>
                    </a:p>
                  </a:txBody>
                  <a:tcPr marL="54864" marR="54864" marT="27432" marB="27432">
                    <a:solidFill>
                      <a:srgbClr val="FFFFFF"/>
                    </a:solidFill>
                  </a:tcPr>
                </a:tc>
                <a:tc>
                  <a:txBody>
                    <a:bodyPr/>
                    <a:lstStyle/>
                    <a:p>
                      <a:r>
                        <a:rPr sz="1000">
                          <a:solidFill>
                            <a:srgbClr val="1F2A37"/>
                          </a:solidFill>
                          <a:latin typeface="Calibri"/>
                        </a:rPr>
                        <a:t>0.3774</a:t>
                      </a:r>
                    </a:p>
                  </a:txBody>
                  <a:tcPr marL="54864" marR="54864" marT="27432" marB="27432">
                    <a:solidFill>
                      <a:srgbClr val="FFFFFF"/>
                    </a:solidFill>
                  </a:tcPr>
                </a:tc>
                <a:tc>
                  <a:txBody>
                    <a:bodyPr/>
                    <a:lstStyle/>
                    <a:p>
                      <a:r>
                        <a:rPr sz="1000">
                          <a:solidFill>
                            <a:srgbClr val="1F2A37"/>
                          </a:solidFill>
                          <a:latin typeface="Calibri"/>
                        </a:rPr>
                        <a:t>+0.0001</a:t>
                      </a:r>
                    </a:p>
                  </a:txBody>
                  <a:tcPr marL="54864" marR="54864" marT="27432" marB="27432">
                    <a:solidFill>
                      <a:srgbClr val="FFFFFF"/>
                    </a:solidFill>
                  </a:tcPr>
                </a:tc>
                <a:tc>
                  <a:txBody>
                    <a:bodyPr/>
                    <a:lstStyle/>
                    <a:p>
                      <a:r>
                        <a:rPr sz="1000">
                          <a:solidFill>
                            <a:srgbClr val="1F2A37"/>
                          </a:solidFill>
                          <a:latin typeface="Calibri"/>
                        </a:rPr>
                        <a:t>drop as input (audit only)</a:t>
                      </a:r>
                    </a:p>
                  </a:txBody>
                  <a:tcPr marL="54864" marR="54864" marT="27432" marB="27432">
                    <a:solidFill>
                      <a:srgbClr val="FFFFFF"/>
                    </a:solidFill>
                  </a:tcPr>
                </a:tc>
              </a:tr>
            </a:tbl>
          </a:graphicData>
        </a:graphic>
      </p:graphicFrame>
      <p:graphicFrame>
        <p:nvGraphicFramePr>
          <p:cNvPr id="8" name="Table 7"/>
          <p:cNvGraphicFramePr>
            <a:graphicFrameLocks noGrp="1"/>
          </p:cNvGraphicFramePr>
          <p:nvPr/>
        </p:nvGraphicFramePr>
        <p:xfrm>
          <a:off x="6309360" y="1188720"/>
          <a:ext cx="5486400" cy="3017520"/>
        </p:xfrm>
        <a:graphic>
          <a:graphicData uri="http://schemas.openxmlformats.org/drawingml/2006/table">
            <a:tbl>
              <a:tblPr firstRow="1" bandRow="1">
                <a:tableStyleId>{5C22544A-7EE6-4342-B048-85BDC9FD1C3A}</a:tableStyleId>
              </a:tblPr>
              <a:tblGrid>
                <a:gridCol w="2834640"/>
                <a:gridCol w="914400"/>
                <a:gridCol w="914400"/>
                <a:gridCol w="822960"/>
              </a:tblGrid>
              <a:tr h="301752">
                <a:tc>
                  <a:txBody>
                    <a:bodyPr/>
                    <a:lstStyle/>
                    <a:p>
                      <a:r>
                        <a:rPr sz="900" b="1">
                          <a:solidFill>
                            <a:srgbClr val="FFFFFF"/>
                          </a:solidFill>
                          <a:latin typeface="Calibri"/>
                        </a:rPr>
                        <a:t>Scenario</a:t>
                      </a:r>
                    </a:p>
                  </a:txBody>
                  <a:tcPr marL="54864" marR="54864" marT="27432" marB="27432">
                    <a:solidFill>
                      <a:srgbClr val="1F3B57"/>
                    </a:solidFill>
                  </a:tcPr>
                </a:tc>
                <a:tc>
                  <a:txBody>
                    <a:bodyPr/>
                    <a:lstStyle/>
                    <a:p>
                      <a:r>
                        <a:rPr sz="900" b="1">
                          <a:solidFill>
                            <a:srgbClr val="FFFFFF"/>
                          </a:solidFill>
                          <a:latin typeface="Calibri"/>
                        </a:rPr>
                        <a:t>Mean |Δ risk|</a:t>
                      </a:r>
                    </a:p>
                  </a:txBody>
                  <a:tcPr marL="54864" marR="54864" marT="27432" marB="27432">
                    <a:solidFill>
                      <a:srgbClr val="1F3B57"/>
                    </a:solidFill>
                  </a:tcPr>
                </a:tc>
                <a:tc>
                  <a:txBody>
                    <a:bodyPr/>
                    <a:lstStyle/>
                    <a:p>
                      <a:r>
                        <a:rPr sz="900" b="1">
                          <a:solidFill>
                            <a:srgbClr val="FFFFFF"/>
                          </a:solidFill>
                          <a:latin typeface="Calibri"/>
                        </a:rPr>
                        <a:t>High-tier flips</a:t>
                      </a:r>
                    </a:p>
                  </a:txBody>
                  <a:tcPr marL="54864" marR="54864" marT="27432" marB="27432">
                    <a:solidFill>
                      <a:srgbClr val="1F3B57"/>
                    </a:solidFill>
                  </a:tcPr>
                </a:tc>
                <a:tc>
                  <a:txBody>
                    <a:bodyPr/>
                    <a:lstStyle/>
                    <a:p>
                      <a:r>
                        <a:rPr sz="900" b="1">
                          <a:solidFill>
                            <a:srgbClr val="FFFFFF"/>
                          </a:solidFill>
                          <a:latin typeface="Calibri"/>
                        </a:rPr>
                        <a:t>ROC-AUC</a:t>
                      </a:r>
                    </a:p>
                  </a:txBody>
                  <a:tcPr marL="54864" marR="54864" marT="27432" marB="27432">
                    <a:solidFill>
                      <a:srgbClr val="1F3B57"/>
                    </a:solidFill>
                  </a:tcPr>
                </a:tc>
              </a:tr>
              <a:tr h="301752">
                <a:tc>
                  <a:txBody>
                    <a:bodyPr/>
                    <a:lstStyle/>
                    <a:p>
                      <a:r>
                        <a:rPr sz="900">
                          <a:solidFill>
                            <a:srgbClr val="1F2A37"/>
                          </a:solidFill>
                          <a:latin typeface="Calibri"/>
                        </a:rPr>
                        <a:t>unchanged</a:t>
                      </a:r>
                    </a:p>
                  </a:txBody>
                  <a:tcPr marL="54864" marR="54864" marT="27432" marB="27432">
                    <a:solidFill>
                      <a:srgbClr val="F3F6F8"/>
                    </a:solidFill>
                  </a:tcPr>
                </a:tc>
                <a:tc>
                  <a:txBody>
                    <a:bodyPr/>
                    <a:lstStyle/>
                    <a:p>
                      <a:r>
                        <a:rPr sz="900">
                          <a:solidFill>
                            <a:srgbClr val="1F2A37"/>
                          </a:solidFill>
                          <a:latin typeface="Calibri"/>
                        </a:rPr>
                        <a:t>0.000</a:t>
                      </a:r>
                    </a:p>
                  </a:txBody>
                  <a:tcPr marL="54864" marR="54864" marT="27432" marB="27432">
                    <a:solidFill>
                      <a:srgbClr val="F3F6F8"/>
                    </a:solidFill>
                  </a:tcPr>
                </a:tc>
                <a:tc>
                  <a:txBody>
                    <a:bodyPr/>
                    <a:lstStyle/>
                    <a:p>
                      <a:r>
                        <a:rPr sz="900">
                          <a:solidFill>
                            <a:srgbClr val="1F2A37"/>
                          </a:solidFill>
                          <a:latin typeface="Calibri"/>
                        </a:rPr>
                        <a:t>0.0%</a:t>
                      </a:r>
                    </a:p>
                  </a:txBody>
                  <a:tcPr marL="54864" marR="54864" marT="27432" marB="27432">
                    <a:solidFill>
                      <a:srgbClr val="F3F6F8"/>
                    </a:solidFill>
                  </a:tcPr>
                </a:tc>
                <a:tc>
                  <a:txBody>
                    <a:bodyPr/>
                    <a:lstStyle/>
                    <a:p>
                      <a:r>
                        <a:rPr sz="900">
                          <a:solidFill>
                            <a:srgbClr val="1F2A37"/>
                          </a:solidFill>
                          <a:latin typeface="Calibri"/>
                        </a:rPr>
                        <a:t>0.742</a:t>
                      </a:r>
                    </a:p>
                  </a:txBody>
                  <a:tcPr marL="54864" marR="54864" marT="27432" marB="27432">
                    <a:solidFill>
                      <a:srgbClr val="F3F6F8"/>
                    </a:solidFill>
                  </a:tcPr>
                </a:tc>
              </a:tr>
              <a:tr h="301752">
                <a:tc>
                  <a:txBody>
                    <a:bodyPr/>
                    <a:lstStyle/>
                    <a:p>
                      <a:r>
                        <a:rPr sz="900">
                          <a:solidFill>
                            <a:srgbClr val="1F2A37"/>
                          </a:solidFill>
                          <a:latin typeface="Calibri"/>
                        </a:rPr>
                        <a:t>lead_days +3</a:t>
                      </a:r>
                    </a:p>
                  </a:txBody>
                  <a:tcPr marL="54864" marR="54864" marT="27432" marB="27432">
                    <a:solidFill>
                      <a:srgbClr val="FFFFFF"/>
                    </a:solidFill>
                  </a:tcPr>
                </a:tc>
                <a:tc>
                  <a:txBody>
                    <a:bodyPr/>
                    <a:lstStyle/>
                    <a:p>
                      <a:r>
                        <a:rPr sz="900">
                          <a:solidFill>
                            <a:srgbClr val="1F2A37"/>
                          </a:solidFill>
                          <a:latin typeface="Calibri"/>
                        </a:rPr>
                        <a:t>0.154</a:t>
                      </a:r>
                    </a:p>
                  </a:txBody>
                  <a:tcPr marL="54864" marR="54864" marT="27432" marB="27432">
                    <a:solidFill>
                      <a:srgbClr val="FFFFFF"/>
                    </a:solidFill>
                  </a:tcPr>
                </a:tc>
                <a:tc>
                  <a:txBody>
                    <a:bodyPr/>
                    <a:lstStyle/>
                    <a:p>
                      <a:r>
                        <a:rPr sz="900">
                          <a:solidFill>
                            <a:srgbClr val="1F2A37"/>
                          </a:solidFill>
                          <a:latin typeface="Calibri"/>
                        </a:rPr>
                        <a:t>23.5%</a:t>
                      </a:r>
                    </a:p>
                  </a:txBody>
                  <a:tcPr marL="54864" marR="54864" marT="27432" marB="27432">
                    <a:solidFill>
                      <a:srgbClr val="FFFFFF"/>
                    </a:solidFill>
                  </a:tcPr>
                </a:tc>
                <a:tc>
                  <a:txBody>
                    <a:bodyPr/>
                    <a:lstStyle/>
                    <a:p>
                      <a:r>
                        <a:rPr sz="900">
                          <a:solidFill>
                            <a:srgbClr val="1F2A37"/>
                          </a:solidFill>
                          <a:latin typeface="Calibri"/>
                        </a:rPr>
                        <a:t>0.659</a:t>
                      </a:r>
                    </a:p>
                  </a:txBody>
                  <a:tcPr marL="54864" marR="54864" marT="27432" marB="27432">
                    <a:solidFill>
                      <a:srgbClr val="FFFFFF"/>
                    </a:solidFill>
                  </a:tcPr>
                </a:tc>
              </a:tr>
              <a:tr h="301752">
                <a:tc>
                  <a:txBody>
                    <a:bodyPr/>
                    <a:lstStyle/>
                    <a:p>
                      <a:r>
                        <a:rPr sz="900">
                          <a:solidFill>
                            <a:srgbClr val="1F2A37"/>
                          </a:solidFill>
                          <a:latin typeface="Calibri"/>
                        </a:rPr>
                        <a:t>lead_days -3 (floor 0)</a:t>
                      </a:r>
                    </a:p>
                  </a:txBody>
                  <a:tcPr marL="54864" marR="54864" marT="27432" marB="27432">
                    <a:solidFill>
                      <a:srgbClr val="F3F6F8"/>
                    </a:solidFill>
                  </a:tcPr>
                </a:tc>
                <a:tc>
                  <a:txBody>
                    <a:bodyPr/>
                    <a:lstStyle/>
                    <a:p>
                      <a:r>
                        <a:rPr sz="900">
                          <a:solidFill>
                            <a:srgbClr val="1F2A37"/>
                          </a:solidFill>
                          <a:latin typeface="Calibri"/>
                        </a:rPr>
                        <a:t>0.058</a:t>
                      </a:r>
                    </a:p>
                  </a:txBody>
                  <a:tcPr marL="54864" marR="54864" marT="27432" marB="27432">
                    <a:solidFill>
                      <a:srgbClr val="F3F6F8"/>
                    </a:solidFill>
                  </a:tcPr>
                </a:tc>
                <a:tc>
                  <a:txBody>
                    <a:bodyPr/>
                    <a:lstStyle/>
                    <a:p>
                      <a:r>
                        <a:rPr sz="900">
                          <a:solidFill>
                            <a:srgbClr val="1F2A37"/>
                          </a:solidFill>
                          <a:latin typeface="Calibri"/>
                        </a:rPr>
                        <a:t>8.6%</a:t>
                      </a:r>
                    </a:p>
                  </a:txBody>
                  <a:tcPr marL="54864" marR="54864" marT="27432" marB="27432">
                    <a:solidFill>
                      <a:srgbClr val="F3F6F8"/>
                    </a:solidFill>
                  </a:tcPr>
                </a:tc>
                <a:tc>
                  <a:txBody>
                    <a:bodyPr/>
                    <a:lstStyle/>
                    <a:p>
                      <a:r>
                        <a:rPr sz="900">
                          <a:solidFill>
                            <a:srgbClr val="1F2A37"/>
                          </a:solidFill>
                          <a:latin typeface="Calibri"/>
                        </a:rPr>
                        <a:t>0.717</a:t>
                      </a:r>
                    </a:p>
                  </a:txBody>
                  <a:tcPr marL="54864" marR="54864" marT="27432" marB="27432">
                    <a:solidFill>
                      <a:srgbClr val="F3F6F8"/>
                    </a:solidFill>
                  </a:tcPr>
                </a:tc>
              </a:tr>
              <a:tr h="301752">
                <a:tc>
                  <a:txBody>
                    <a:bodyPr/>
                    <a:lstStyle/>
                    <a:p>
                      <a:r>
                        <a:rPr sz="900">
                          <a:solidFill>
                            <a:srgbClr val="1F2A37"/>
                          </a:solidFill>
                          <a:latin typeface="Calibri"/>
                        </a:rPr>
                        <a:t>lead_days x1.2</a:t>
                      </a:r>
                    </a:p>
                  </a:txBody>
                  <a:tcPr marL="54864" marR="54864" marT="27432" marB="27432">
                    <a:solidFill>
                      <a:srgbClr val="FFFFFF"/>
                    </a:solidFill>
                  </a:tcPr>
                </a:tc>
                <a:tc>
                  <a:txBody>
                    <a:bodyPr/>
                    <a:lstStyle/>
                    <a:p>
                      <a:r>
                        <a:rPr sz="900">
                          <a:solidFill>
                            <a:srgbClr val="1F2A37"/>
                          </a:solidFill>
                          <a:latin typeface="Calibri"/>
                        </a:rPr>
                        <a:t>0.004</a:t>
                      </a:r>
                    </a:p>
                  </a:txBody>
                  <a:tcPr marL="54864" marR="54864" marT="27432" marB="27432">
                    <a:solidFill>
                      <a:srgbClr val="FFFFFF"/>
                    </a:solidFill>
                  </a:tcPr>
                </a:tc>
                <a:tc>
                  <a:txBody>
                    <a:bodyPr/>
                    <a:lstStyle/>
                    <a:p>
                      <a:r>
                        <a:rPr sz="900">
                          <a:solidFill>
                            <a:srgbClr val="1F2A37"/>
                          </a:solidFill>
                          <a:latin typeface="Calibri"/>
                        </a:rPr>
                        <a:t>1.4%</a:t>
                      </a:r>
                    </a:p>
                  </a:txBody>
                  <a:tcPr marL="54864" marR="54864" marT="27432" marB="27432">
                    <a:solidFill>
                      <a:srgbClr val="FFFFFF"/>
                    </a:solidFill>
                  </a:tcPr>
                </a:tc>
                <a:tc>
                  <a:txBody>
                    <a:bodyPr/>
                    <a:lstStyle/>
                    <a:p>
                      <a:r>
                        <a:rPr sz="900">
                          <a:solidFill>
                            <a:srgbClr val="1F2A37"/>
                          </a:solidFill>
                          <a:latin typeface="Calibri"/>
                        </a:rPr>
                        <a:t>0.742</a:t>
                      </a:r>
                    </a:p>
                  </a:txBody>
                  <a:tcPr marL="54864" marR="54864" marT="27432" marB="27432">
                    <a:solidFill>
                      <a:srgbClr val="FFFFFF"/>
                    </a:solidFill>
                  </a:tcPr>
                </a:tc>
              </a:tr>
              <a:tr h="301752">
                <a:tc>
                  <a:txBody>
                    <a:bodyPr/>
                    <a:lstStyle/>
                    <a:p>
                      <a:r>
                        <a:rPr sz="900">
                          <a:solidFill>
                            <a:srgbClr val="1F2A37"/>
                          </a:solidFill>
                          <a:latin typeface="Calibri"/>
                        </a:rPr>
                        <a:t>age +5 years</a:t>
                      </a:r>
                    </a:p>
                  </a:txBody>
                  <a:tcPr marL="54864" marR="54864" marT="27432" marB="27432">
                    <a:solidFill>
                      <a:srgbClr val="F3F6F8"/>
                    </a:solidFill>
                  </a:tcPr>
                </a:tc>
                <a:tc>
                  <a:txBody>
                    <a:bodyPr/>
                    <a:lstStyle/>
                    <a:p>
                      <a:r>
                        <a:rPr sz="900">
                          <a:solidFill>
                            <a:srgbClr val="1F2A37"/>
                          </a:solidFill>
                          <a:latin typeface="Calibri"/>
                        </a:rPr>
                        <a:t>0.016</a:t>
                      </a:r>
                    </a:p>
                  </a:txBody>
                  <a:tcPr marL="54864" marR="54864" marT="27432" marB="27432">
                    <a:solidFill>
                      <a:srgbClr val="F3F6F8"/>
                    </a:solidFill>
                  </a:tcPr>
                </a:tc>
                <a:tc>
                  <a:txBody>
                    <a:bodyPr/>
                    <a:lstStyle/>
                    <a:p>
                      <a:r>
                        <a:rPr sz="900">
                          <a:solidFill>
                            <a:srgbClr val="1F2A37"/>
                          </a:solidFill>
                          <a:latin typeface="Calibri"/>
                        </a:rPr>
                        <a:t>4.6%</a:t>
                      </a:r>
                    </a:p>
                  </a:txBody>
                  <a:tcPr marL="54864" marR="54864" marT="27432" marB="27432">
                    <a:solidFill>
                      <a:srgbClr val="F3F6F8"/>
                    </a:solidFill>
                  </a:tcPr>
                </a:tc>
                <a:tc>
                  <a:txBody>
                    <a:bodyPr/>
                    <a:lstStyle/>
                    <a:p>
                      <a:r>
                        <a:rPr sz="900">
                          <a:solidFill>
                            <a:srgbClr val="1F2A37"/>
                          </a:solidFill>
                          <a:latin typeface="Calibri"/>
                        </a:rPr>
                        <a:t>0.740</a:t>
                      </a:r>
                    </a:p>
                  </a:txBody>
                  <a:tcPr marL="54864" marR="54864" marT="27432" marB="27432">
                    <a:solidFill>
                      <a:srgbClr val="F3F6F8"/>
                    </a:solidFill>
                  </a:tcPr>
                </a:tc>
              </a:tr>
              <a:tr h="301752">
                <a:tc>
                  <a:txBody>
                    <a:bodyPr/>
                    <a:lstStyle/>
                    <a:p>
                      <a:r>
                        <a:rPr sz="900">
                          <a:solidFill>
                            <a:srgbClr val="1F2A37"/>
                          </a:solidFill>
                          <a:latin typeface="Calibri"/>
                        </a:rPr>
                        <a:t>age -5 years (floor 0)</a:t>
                      </a:r>
                    </a:p>
                  </a:txBody>
                  <a:tcPr marL="54864" marR="54864" marT="27432" marB="27432">
                    <a:solidFill>
                      <a:srgbClr val="FFFFFF"/>
                    </a:solidFill>
                  </a:tcPr>
                </a:tc>
                <a:tc>
                  <a:txBody>
                    <a:bodyPr/>
                    <a:lstStyle/>
                    <a:p>
                      <a:r>
                        <a:rPr sz="900">
                          <a:solidFill>
                            <a:srgbClr val="1F2A37"/>
                          </a:solidFill>
                          <a:latin typeface="Calibri"/>
                        </a:rPr>
                        <a:t>0.016</a:t>
                      </a:r>
                    </a:p>
                  </a:txBody>
                  <a:tcPr marL="54864" marR="54864" marT="27432" marB="27432">
                    <a:solidFill>
                      <a:srgbClr val="FFFFFF"/>
                    </a:solidFill>
                  </a:tcPr>
                </a:tc>
                <a:tc>
                  <a:txBody>
                    <a:bodyPr/>
                    <a:lstStyle/>
                    <a:p>
                      <a:r>
                        <a:rPr sz="900">
                          <a:solidFill>
                            <a:srgbClr val="1F2A37"/>
                          </a:solidFill>
                          <a:latin typeface="Calibri"/>
                        </a:rPr>
                        <a:t>4.7%</a:t>
                      </a:r>
                    </a:p>
                  </a:txBody>
                  <a:tcPr marL="54864" marR="54864" marT="27432" marB="27432">
                    <a:solidFill>
                      <a:srgbClr val="FFFFFF"/>
                    </a:solidFill>
                  </a:tcPr>
                </a:tc>
                <a:tc>
                  <a:txBody>
                    <a:bodyPr/>
                    <a:lstStyle/>
                    <a:p>
                      <a:r>
                        <a:rPr sz="900">
                          <a:solidFill>
                            <a:srgbClr val="1F2A37"/>
                          </a:solidFill>
                          <a:latin typeface="Calibri"/>
                        </a:rPr>
                        <a:t>0.740</a:t>
                      </a:r>
                    </a:p>
                  </a:txBody>
                  <a:tcPr marL="54864" marR="54864" marT="27432" marB="27432">
                    <a:solidFill>
                      <a:srgbClr val="FFFFFF"/>
                    </a:solidFill>
                  </a:tcPr>
                </a:tc>
              </a:tr>
              <a:tr h="301752">
                <a:tc>
                  <a:txBody>
                    <a:bodyPr/>
                    <a:lstStyle/>
                    <a:p>
                      <a:r>
                        <a:rPr sz="900">
                          <a:solidFill>
                            <a:srgbClr val="1F2A37"/>
                          </a:solidFill>
                          <a:latin typeface="Calibri"/>
                        </a:rPr>
                        <a:t>prior no-show rate +0.10</a:t>
                      </a:r>
                    </a:p>
                  </a:txBody>
                  <a:tcPr marL="54864" marR="54864" marT="27432" marB="27432">
                    <a:solidFill>
                      <a:srgbClr val="F3F6F8"/>
                    </a:solidFill>
                  </a:tcPr>
                </a:tc>
                <a:tc>
                  <a:txBody>
                    <a:bodyPr/>
                    <a:lstStyle/>
                    <a:p>
                      <a:r>
                        <a:rPr sz="900">
                          <a:solidFill>
                            <a:srgbClr val="1F2A37"/>
                          </a:solidFill>
                          <a:latin typeface="Calibri"/>
                        </a:rPr>
                        <a:t>0.012</a:t>
                      </a:r>
                    </a:p>
                  </a:txBody>
                  <a:tcPr marL="54864" marR="54864" marT="27432" marB="27432">
                    <a:solidFill>
                      <a:srgbClr val="F3F6F8"/>
                    </a:solidFill>
                  </a:tcPr>
                </a:tc>
                <a:tc>
                  <a:txBody>
                    <a:bodyPr/>
                    <a:lstStyle/>
                    <a:p>
                      <a:r>
                        <a:rPr sz="900">
                          <a:solidFill>
                            <a:srgbClr val="1F2A37"/>
                          </a:solidFill>
                          <a:latin typeface="Calibri"/>
                        </a:rPr>
                        <a:t>1.2%</a:t>
                      </a:r>
                    </a:p>
                  </a:txBody>
                  <a:tcPr marL="54864" marR="54864" marT="27432" marB="27432">
                    <a:solidFill>
                      <a:srgbClr val="F3F6F8"/>
                    </a:solidFill>
                  </a:tcPr>
                </a:tc>
                <a:tc>
                  <a:txBody>
                    <a:bodyPr/>
                    <a:lstStyle/>
                    <a:p>
                      <a:r>
                        <a:rPr sz="900">
                          <a:solidFill>
                            <a:srgbClr val="1F2A37"/>
                          </a:solidFill>
                          <a:latin typeface="Calibri"/>
                        </a:rPr>
                        <a:t>0.741</a:t>
                      </a:r>
                    </a:p>
                  </a:txBody>
                  <a:tcPr marL="54864" marR="54864" marT="27432" marB="27432">
                    <a:solidFill>
                      <a:srgbClr val="F3F6F8"/>
                    </a:solidFill>
                  </a:tcPr>
                </a:tc>
              </a:tr>
              <a:tr h="301752">
                <a:tc>
                  <a:txBody>
                    <a:bodyPr/>
                    <a:lstStyle/>
                    <a:p>
                      <a:r>
                        <a:rPr sz="900">
                          <a:solidFill>
                            <a:srgbClr val="1F2A37"/>
                          </a:solidFill>
                          <a:latin typeface="Calibri"/>
                        </a:rPr>
                        <a:t>welfare flag flipped</a:t>
                      </a:r>
                    </a:p>
                  </a:txBody>
                  <a:tcPr marL="54864" marR="54864" marT="27432" marB="27432">
                    <a:solidFill>
                      <a:srgbClr val="FFFFFF"/>
                    </a:solidFill>
                  </a:tcPr>
                </a:tc>
                <a:tc>
                  <a:txBody>
                    <a:bodyPr/>
                    <a:lstStyle/>
                    <a:p>
                      <a:r>
                        <a:rPr sz="900">
                          <a:solidFill>
                            <a:srgbClr val="1F2A37"/>
                          </a:solidFill>
                          <a:latin typeface="Calibri"/>
                        </a:rPr>
                        <a:t>0.019</a:t>
                      </a:r>
                    </a:p>
                  </a:txBody>
                  <a:tcPr marL="54864" marR="54864" marT="27432" marB="27432">
                    <a:solidFill>
                      <a:srgbClr val="FFFFFF"/>
                    </a:solidFill>
                  </a:tcPr>
                </a:tc>
                <a:tc>
                  <a:txBody>
                    <a:bodyPr/>
                    <a:lstStyle/>
                    <a:p>
                      <a:r>
                        <a:rPr sz="900">
                          <a:solidFill>
                            <a:srgbClr val="1F2A37"/>
                          </a:solidFill>
                          <a:latin typeface="Calibri"/>
                        </a:rPr>
                        <a:t>7.1%</a:t>
                      </a:r>
                    </a:p>
                  </a:txBody>
                  <a:tcPr marL="54864" marR="54864" marT="27432" marB="27432">
                    <a:solidFill>
                      <a:srgbClr val="FFFFFF"/>
                    </a:solidFill>
                  </a:tcPr>
                </a:tc>
                <a:tc>
                  <a:txBody>
                    <a:bodyPr/>
                    <a:lstStyle/>
                    <a:p>
                      <a:r>
                        <a:rPr sz="900">
                          <a:solidFill>
                            <a:srgbClr val="1F2A37"/>
                          </a:solidFill>
                          <a:latin typeface="Calibri"/>
                        </a:rPr>
                        <a:t>0.740</a:t>
                      </a:r>
                    </a:p>
                  </a:txBody>
                  <a:tcPr marL="54864" marR="54864" marT="27432" marB="27432">
                    <a:solidFill>
                      <a:srgbClr val="FFFFFF"/>
                    </a:solidFill>
                  </a:tcPr>
                </a:tc>
              </a:tr>
              <a:tr h="301752">
                <a:tc>
                  <a:txBody>
                    <a:bodyPr/>
                    <a:lstStyle/>
                    <a:p>
                      <a:r>
                        <a:rPr sz="900">
                          <a:solidFill>
                            <a:srgbClr val="1F2A37"/>
                          </a:solidFill>
                          <a:latin typeface="Calibri"/>
                        </a:rPr>
                        <a:t>Gaussian noise (10% SD) on age and lead time</a:t>
                      </a:r>
                    </a:p>
                  </a:txBody>
                  <a:tcPr marL="54864" marR="54864" marT="27432" marB="27432">
                    <a:solidFill>
                      <a:srgbClr val="F3F6F8"/>
                    </a:solidFill>
                  </a:tcPr>
                </a:tc>
                <a:tc>
                  <a:txBody>
                    <a:bodyPr/>
                    <a:lstStyle/>
                    <a:p>
                      <a:r>
                        <a:rPr sz="900">
                          <a:solidFill>
                            <a:srgbClr val="1F2A37"/>
                          </a:solidFill>
                          <a:latin typeface="Calibri"/>
                        </a:rPr>
                        <a:t>0.071</a:t>
                      </a:r>
                    </a:p>
                  </a:txBody>
                  <a:tcPr marL="54864" marR="54864" marT="27432" marB="27432">
                    <a:solidFill>
                      <a:srgbClr val="F3F6F8"/>
                    </a:solidFill>
                  </a:tcPr>
                </a:tc>
                <a:tc>
                  <a:txBody>
                    <a:bodyPr/>
                    <a:lstStyle/>
                    <a:p>
                      <a:r>
                        <a:rPr sz="900">
                          <a:solidFill>
                            <a:srgbClr val="1F2A37"/>
                          </a:solidFill>
                          <a:latin typeface="Calibri"/>
                        </a:rPr>
                        <a:t>10.2%</a:t>
                      </a:r>
                    </a:p>
                  </a:txBody>
                  <a:tcPr marL="54864" marR="54864" marT="27432" marB="27432">
                    <a:solidFill>
                      <a:srgbClr val="F3F6F8"/>
                    </a:solidFill>
                  </a:tcPr>
                </a:tc>
                <a:tc>
                  <a:txBody>
                    <a:bodyPr/>
                    <a:lstStyle/>
                    <a:p>
                      <a:r>
                        <a:rPr sz="900">
                          <a:solidFill>
                            <a:srgbClr val="1F2A37"/>
                          </a:solidFill>
                          <a:latin typeface="Calibri"/>
                        </a:rPr>
                        <a:t>0.703</a:t>
                      </a:r>
                    </a:p>
                  </a:txBody>
                  <a:tcPr marL="54864" marR="54864" marT="27432" marB="27432">
                    <a:solidFill>
                      <a:srgbClr val="F3F6F8"/>
                    </a:solidFill>
                  </a:tcPr>
                </a:tc>
              </a:tr>
            </a:tbl>
          </a:graphicData>
        </a:graphic>
      </p:graphicFrame>
      <p:sp>
        <p:nvSpPr>
          <p:cNvPr id="9" name="TextBox 8"/>
          <p:cNvSpPr txBox="1"/>
          <p:nvPr/>
        </p:nvSpPr>
        <p:spPr>
          <a:xfrm>
            <a:off x="411480" y="3017520"/>
            <a:ext cx="5669280" cy="256032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Necessity tolerance: a flag stays an input only if dropping it costs &gt; 0.005 CV PR-AUC. A dropped flag is also removed from chronic_count (data minimisation, Proclamation 1321/2024).</a:t>
            </a:r>
          </a:p>
          <a:p>
            <a:pPr algn="l">
              <a:spcAft>
                <a:spcPts val="400"/>
              </a:spcAft>
            </a:pPr>
            <a:r>
              <a:rPr sz="1100" b="0">
                <a:solidFill>
                  <a:srgbClr val="1F2A37"/>
                </a:solidFill>
                <a:latin typeface="Calibri"/>
              </a:rPr>
              <a:t>Forward-in-time check: champion configuration refitted on dates before 2016-06-01 (71,023 appointments) and scored on the latest 22,356: ROC-AUC 0.737, PR-AUC 0.356, recall 68.2% at the earlier threshold.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A6 · Architecture and API demonstration</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Module 2 architecture as built in Modules 3–5</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22</a:t>
            </a:r>
          </a:p>
        </p:txBody>
      </p:sp>
      <p:sp>
        <p:nvSpPr>
          <p:cNvPr id="8" name="TextBox 7"/>
          <p:cNvSpPr txBox="1"/>
          <p:nvPr/>
        </p:nvSpPr>
        <p:spPr>
          <a:xfrm>
            <a:off x="411480" y="1188720"/>
            <a:ext cx="5669280" cy="4389120"/>
          </a:xfrm>
          <a:prstGeom prst="rect">
            <a:avLst/>
          </a:prstGeom>
          <a:noFill/>
        </p:spPr>
        <p:txBody>
          <a:bodyPr wrap="square" anchor="t" lIns="73152" rIns="73152" tIns="36576" bIns="36576">
            <a:spAutoFit/>
          </a:bodyPr>
          <a:lstStyle/>
          <a:p>
            <a:pPr algn="l">
              <a:spcAft>
                <a:spcPts val="400"/>
              </a:spcAft>
            </a:pPr>
            <a:r>
              <a:rPr sz="1100" b="1">
                <a:solidFill>
                  <a:srgbClr val="1F2A37"/>
                </a:solidFill>
                <a:latin typeface="Calibri"/>
              </a:rPr>
              <a:t>Flow</a:t>
            </a:r>
          </a:p>
          <a:p>
            <a:pPr algn="l">
              <a:spcAft>
                <a:spcPts val="400"/>
              </a:spcAft>
            </a:pPr>
            <a:r>
              <a:rPr sz="1100" b="0">
                <a:solidFill>
                  <a:srgbClr val="1F2A37"/>
                </a:solidFill>
                <a:latin typeface="Calibri"/>
              </a:rPr>
              <a:t>Kaggle proxy (later: HIS/DHIS2 extract, 18:00 daily) → Module 3 pipeline (pandas, validation gates, pseudonymisation, Airflow DAG, Docker) → Module 4 model (scikit-learn / XGBoost, MLflow tracking + registry, SHAP, Fairlearn, DiCE) → FastAPI /predict → Module 5 Streamlit dashboard.</a:t>
            </a:r>
          </a:p>
          <a:p>
            <a:pPr algn="l">
              <a:spcAft>
                <a:spcPts val="400"/>
              </a:spcAft>
            </a:pPr>
            <a:r>
              <a:rPr sz="1100" b="1">
                <a:solidFill>
                  <a:srgbClr val="1F2A37"/>
                </a:solidFill>
                <a:latin typeface="Calibri"/>
              </a:rPr>
              <a:t>API</a:t>
            </a:r>
          </a:p>
          <a:p>
            <a:pPr algn="l">
              <a:spcAft>
                <a:spcPts val="400"/>
              </a:spcAft>
            </a:pPr>
            <a:r>
              <a:rPr sz="1100" b="0">
                <a:solidFill>
                  <a:srgbClr val="1F2A37"/>
                </a:solidFill>
                <a:latin typeface="Calibri"/>
              </a:rPr>
              <a:t>POST /predict with age, scheduled_date, appointment_date, flags and attendance history → no_show_probability, risk_tier, recommended_action, reason_codes, thresholds, model, disclaimer.</a:t>
            </a:r>
          </a:p>
          <a:p>
            <a:pPr algn="l">
              <a:spcAft>
                <a:spcPts val="400"/>
              </a:spcAft>
            </a:pPr>
            <a:r>
              <a:rPr sz="1100" b="0">
                <a:solidFill>
                  <a:srgbClr val="1F2A37"/>
                </a:solidFill>
                <a:latin typeface="Calibri"/>
              </a:rPr>
              <a:t>GET /health → algorithm, creation time, feature list, data hash.</a:t>
            </a:r>
          </a:p>
          <a:p>
            <a:pPr algn="l">
              <a:spcAft>
                <a:spcPts val="400"/>
              </a:spcAft>
            </a:pPr>
            <a:r>
              <a:rPr sz="1100" b="0">
                <a:solidFill>
                  <a:srgbClr val="1F2A37"/>
                </a:solidFill>
                <a:latin typeface="Calibri"/>
              </a:rPr>
              <a:t>Serving uses the Module 3 feature definitions, so training and serving cannot drift apart.</a:t>
            </a:r>
          </a:p>
          <a:p>
            <a:pPr algn="l">
              <a:spcAft>
                <a:spcPts val="400"/>
              </a:spcAft>
            </a:pPr>
            <a:r>
              <a:rPr sz="1100" b="0">
                <a:solidFill>
                  <a:srgbClr val="1F2A37"/>
                </a:solidFill>
                <a:latin typeface="Calibri"/>
              </a:rPr>
              <a:t>Run: uvicorn api.main:app → http://127.0.0.1:8000/docs; demo script module5/api_demo.py.</a:t>
            </a:r>
          </a:p>
        </p:txBody>
      </p:sp>
      <p:sp>
        <p:nvSpPr>
          <p:cNvPr id="9" name="TextBox 8"/>
          <p:cNvSpPr txBox="1"/>
          <p:nvPr/>
        </p:nvSpPr>
        <p:spPr>
          <a:xfrm>
            <a:off x="6309360" y="1188720"/>
            <a:ext cx="5486400" cy="4389120"/>
          </a:xfrm>
          <a:prstGeom prst="rect">
            <a:avLst/>
          </a:prstGeom>
          <a:noFill/>
        </p:spPr>
        <p:txBody>
          <a:bodyPr wrap="square" anchor="t" lIns="73152" rIns="73152" tIns="36576" bIns="36576">
            <a:spAutoFit/>
          </a:bodyPr>
          <a:lstStyle/>
          <a:p>
            <a:pPr algn="l">
              <a:spcAft>
                <a:spcPts val="400"/>
              </a:spcAft>
            </a:pPr>
            <a:r>
              <a:rPr sz="1100" b="1">
                <a:solidFill>
                  <a:srgbClr val="1F2A37"/>
                </a:solidFill>
                <a:latin typeface="Calibri"/>
              </a:rPr>
              <a:t>Demo output (module5/api_demo.py)</a:t>
            </a:r>
          </a:p>
          <a:p>
            <a:pPr algn="l">
              <a:spcAft>
                <a:spcPts val="400"/>
              </a:spcAft>
            </a:pPr>
            <a:r>
              <a:rPr sz="1100" b="0">
                <a:solidFill>
                  <a:srgbClr val="1F2A37"/>
                </a:solidFill>
                <a:latin typeface="Calibri"/>
              </a:rPr>
              <a:t>Amina - 27, booked 21 days ahead, 1 of 3 earlier visits missed, welfare-enrolled: p = 0.7496, tier High — Long lead time between booking and visit: raises risk; Missed appointments in the past: raises risk</a:t>
            </a:r>
          </a:p>
          <a:p>
            <a:pPr algn="l">
              <a:spcAft>
                <a:spcPts val="400"/>
              </a:spcAft>
            </a:pPr>
            <a:r>
              <a:rPr sz="1100" b="0">
                <a:solidFill>
                  <a:srgbClr val="1F2A37"/>
                </a:solidFill>
                <a:latin typeface="Calibri"/>
              </a:rPr>
              <a:t>Hassan - 64, hypertension + diabetes, booked 2 days ahead, 6 earlier visits all attended: p = 0.4143, tier Low — Booked close to the visit: lowers risk; Chronic follow-up: lowers risk</a:t>
            </a:r>
          </a:p>
          <a:p>
            <a:pPr algn="l">
              <a:spcAft>
                <a:spcPts val="400"/>
              </a:spcAft>
            </a:pPr>
            <a:r>
              <a:rPr sz="1100" b="0">
                <a:solidFill>
                  <a:srgbClr val="1F2A37"/>
                </a:solidFill>
                <a:latin typeface="Calibri"/>
              </a:rPr>
              <a:t>Sahra - 16, first visit, booked 35 days ahead: p = 0.6919, tier High — Long lead time between booking and visit: raises risk; First visit, no attendance history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A7 · Acceptance criteria and monitoring plan</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Module 4, Section 7</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23</a:t>
            </a:r>
          </a:p>
        </p:txBody>
      </p:sp>
      <p:graphicFrame>
        <p:nvGraphicFramePr>
          <p:cNvPr id="8" name="Table 7"/>
          <p:cNvGraphicFramePr>
            <a:graphicFrameLocks noGrp="1"/>
          </p:cNvGraphicFramePr>
          <p:nvPr/>
        </p:nvGraphicFramePr>
        <p:xfrm>
          <a:off x="411480" y="1188720"/>
          <a:ext cx="11338560" cy="2688336"/>
        </p:xfrm>
        <a:graphic>
          <a:graphicData uri="http://schemas.openxmlformats.org/drawingml/2006/table">
            <a:tbl>
              <a:tblPr firstRow="1" bandRow="1">
                <a:tableStyleId>{5C22544A-7EE6-4342-B048-85BDC9FD1C3A}</a:tableStyleId>
              </a:tblPr>
              <a:tblGrid>
                <a:gridCol w="3291840"/>
                <a:gridCol w="6217920"/>
                <a:gridCol w="1828800"/>
              </a:tblGrid>
              <a:tr h="384048">
                <a:tc>
                  <a:txBody>
                    <a:bodyPr/>
                    <a:lstStyle/>
                    <a:p>
                      <a:r>
                        <a:rPr sz="1100" b="1">
                          <a:solidFill>
                            <a:srgbClr val="FFFFFF"/>
                          </a:solidFill>
                          <a:latin typeface="Calibri"/>
                        </a:rPr>
                        <a:t>Signal</a:t>
                      </a:r>
                    </a:p>
                  </a:txBody>
                  <a:tcPr marL="54864" marR="54864" marT="27432" marB="27432">
                    <a:solidFill>
                      <a:srgbClr val="1F3B57"/>
                    </a:solidFill>
                  </a:tcPr>
                </a:tc>
                <a:tc>
                  <a:txBody>
                    <a:bodyPr/>
                    <a:lstStyle/>
                    <a:p>
                      <a:r>
                        <a:rPr sz="1100" b="1">
                          <a:solidFill>
                            <a:srgbClr val="FFFFFF"/>
                          </a:solidFill>
                          <a:latin typeface="Calibri"/>
                        </a:rPr>
                        <a:t>Acceptance criterion / trigger</a:t>
                      </a:r>
                    </a:p>
                  </a:txBody>
                  <a:tcPr marL="54864" marR="54864" marT="27432" marB="27432">
                    <a:solidFill>
                      <a:srgbClr val="1F3B57"/>
                    </a:solidFill>
                  </a:tcPr>
                </a:tc>
                <a:tc>
                  <a:txBody>
                    <a:bodyPr/>
                    <a:lstStyle/>
                    <a:p>
                      <a:r>
                        <a:rPr sz="1100" b="1">
                          <a:solidFill>
                            <a:srgbClr val="FFFFFF"/>
                          </a:solidFill>
                          <a:latin typeface="Calibri"/>
                        </a:rPr>
                        <a:t>Frequency</a:t>
                      </a:r>
                    </a:p>
                  </a:txBody>
                  <a:tcPr marL="54864" marR="54864" marT="27432" marB="27432">
                    <a:solidFill>
                      <a:srgbClr val="1F3B57"/>
                    </a:solidFill>
                  </a:tcPr>
                </a:tc>
              </a:tr>
              <a:tr h="384048">
                <a:tc>
                  <a:txBody>
                    <a:bodyPr/>
                    <a:lstStyle/>
                    <a:p>
                      <a:r>
                        <a:rPr sz="1100">
                          <a:solidFill>
                            <a:srgbClr val="1F2A37"/>
                          </a:solidFill>
                          <a:latin typeface="Calibri"/>
                        </a:rPr>
                        <a:t>Recall on no-shows</a:t>
                      </a:r>
                    </a:p>
                  </a:txBody>
                  <a:tcPr marL="54864" marR="54864" marT="27432" marB="27432">
                    <a:solidFill>
                      <a:srgbClr val="F3F6F8"/>
                    </a:solidFill>
                  </a:tcPr>
                </a:tc>
                <a:tc>
                  <a:txBody>
                    <a:bodyPr/>
                    <a:lstStyle/>
                    <a:p>
                      <a:r>
                        <a:rPr sz="1100">
                          <a:solidFill>
                            <a:srgbClr val="1F2A37"/>
                          </a:solidFill>
                          <a:latin typeface="Calibri"/>
                        </a:rPr>
                        <a:t>≥ 0.70; retrain if &lt; 0.65</a:t>
                      </a:r>
                    </a:p>
                  </a:txBody>
                  <a:tcPr marL="54864" marR="54864" marT="27432" marB="27432">
                    <a:solidFill>
                      <a:srgbClr val="F3F6F8"/>
                    </a:solidFill>
                  </a:tcPr>
                </a:tc>
                <a:tc>
                  <a:txBody>
                    <a:bodyPr/>
                    <a:lstStyle/>
                    <a:p>
                      <a:r>
                        <a:rPr sz="1100">
                          <a:solidFill>
                            <a:srgbClr val="1F2A37"/>
                          </a:solidFill>
                          <a:latin typeface="Calibri"/>
                        </a:rPr>
                        <a:t>Monthly</a:t>
                      </a:r>
                    </a:p>
                  </a:txBody>
                  <a:tcPr marL="54864" marR="54864" marT="27432" marB="27432">
                    <a:solidFill>
                      <a:srgbClr val="F3F6F8"/>
                    </a:solidFill>
                  </a:tcPr>
                </a:tc>
              </a:tr>
              <a:tr h="384048">
                <a:tc>
                  <a:txBody>
                    <a:bodyPr/>
                    <a:lstStyle/>
                    <a:p>
                      <a:r>
                        <a:rPr sz="1100">
                          <a:solidFill>
                            <a:srgbClr val="1F2A37"/>
                          </a:solidFill>
                          <a:latin typeface="Calibri"/>
                        </a:rPr>
                        <a:t>Precision / flag rate</a:t>
                      </a:r>
                    </a:p>
                  </a:txBody>
                  <a:tcPr marL="54864" marR="54864" marT="27432" marB="27432">
                    <a:solidFill>
                      <a:srgbClr val="FFFFFF"/>
                    </a:solidFill>
                  </a:tcPr>
                </a:tc>
                <a:tc>
                  <a:txBody>
                    <a:bodyPr/>
                    <a:lstStyle/>
                    <a:p>
                      <a:r>
                        <a:rPr sz="1100">
                          <a:solidFill>
                            <a:srgbClr val="1F2A37"/>
                          </a:solidFill>
                          <a:latin typeface="Calibri"/>
                        </a:rPr>
                        <a:t>Flag rate within outreach capacity; alert if +50 % vs baseline</a:t>
                      </a:r>
                    </a:p>
                  </a:txBody>
                  <a:tcPr marL="54864" marR="54864" marT="27432" marB="27432">
                    <a:solidFill>
                      <a:srgbClr val="FFFFFF"/>
                    </a:solidFill>
                  </a:tcPr>
                </a:tc>
                <a:tc>
                  <a:txBody>
                    <a:bodyPr/>
                    <a:lstStyle/>
                    <a:p>
                      <a:r>
                        <a:rPr sz="1100">
                          <a:solidFill>
                            <a:srgbClr val="1F2A37"/>
                          </a:solidFill>
                          <a:latin typeface="Calibri"/>
                        </a:rPr>
                        <a:t>Weekly</a:t>
                      </a:r>
                    </a:p>
                  </a:txBody>
                  <a:tcPr marL="54864" marR="54864" marT="27432" marB="27432">
                    <a:solidFill>
                      <a:srgbClr val="FFFFFF"/>
                    </a:solidFill>
                  </a:tcPr>
                </a:tc>
              </a:tr>
              <a:tr h="384048">
                <a:tc>
                  <a:txBody>
                    <a:bodyPr/>
                    <a:lstStyle/>
                    <a:p>
                      <a:r>
                        <a:rPr sz="1100">
                          <a:solidFill>
                            <a:srgbClr val="1F2A37"/>
                          </a:solidFill>
                          <a:latin typeface="Calibri"/>
                        </a:rPr>
                        <a:t>Per-group recall gap (4 attributes)</a:t>
                      </a:r>
                    </a:p>
                  </a:txBody>
                  <a:tcPr marL="54864" marR="54864" marT="27432" marB="27432">
                    <a:solidFill>
                      <a:srgbClr val="F3F6F8"/>
                    </a:solidFill>
                  </a:tcPr>
                </a:tc>
                <a:tc>
                  <a:txBody>
                    <a:bodyPr/>
                    <a:lstStyle/>
                    <a:p>
                      <a:r>
                        <a:rPr sz="1100">
                          <a:solidFill>
                            <a:srgbClr val="1F2A37"/>
                          </a:solidFill>
                          <a:latin typeface="Calibri"/>
                        </a:rPr>
                        <a:t>≤ 0.10; governance committee review if exceeded</a:t>
                      </a:r>
                    </a:p>
                  </a:txBody>
                  <a:tcPr marL="54864" marR="54864" marT="27432" marB="27432">
                    <a:solidFill>
                      <a:srgbClr val="F3F6F8"/>
                    </a:solidFill>
                  </a:tcPr>
                </a:tc>
                <a:tc>
                  <a:txBody>
                    <a:bodyPr/>
                    <a:lstStyle/>
                    <a:p>
                      <a:r>
                        <a:rPr sz="1100">
                          <a:solidFill>
                            <a:srgbClr val="1F2A37"/>
                          </a:solidFill>
                          <a:latin typeface="Calibri"/>
                        </a:rPr>
                        <a:t>Monthly</a:t>
                      </a:r>
                    </a:p>
                  </a:txBody>
                  <a:tcPr marL="54864" marR="54864" marT="27432" marB="27432">
                    <a:solidFill>
                      <a:srgbClr val="F3F6F8"/>
                    </a:solidFill>
                  </a:tcPr>
                </a:tc>
              </a:tr>
              <a:tr h="384048">
                <a:tc>
                  <a:txBody>
                    <a:bodyPr/>
                    <a:lstStyle/>
                    <a:p>
                      <a:r>
                        <a:rPr sz="1100">
                          <a:solidFill>
                            <a:srgbClr val="1F2A37"/>
                          </a:solidFill>
                          <a:latin typeface="Calibri"/>
                        </a:rPr>
                        <a:t>Input drift (lead time, age, history)</a:t>
                      </a:r>
                    </a:p>
                  </a:txBody>
                  <a:tcPr marL="54864" marR="54864" marT="27432" marB="27432">
                    <a:solidFill>
                      <a:srgbClr val="FFFFFF"/>
                    </a:solidFill>
                  </a:tcPr>
                </a:tc>
                <a:tc>
                  <a:txBody>
                    <a:bodyPr/>
                    <a:lstStyle/>
                    <a:p>
                      <a:r>
                        <a:rPr sz="1100">
                          <a:solidFill>
                            <a:srgbClr val="1F2A37"/>
                          </a:solidFill>
                          <a:latin typeface="Calibri"/>
                        </a:rPr>
                        <a:t>Population stability index &lt; 0.2</a:t>
                      </a:r>
                    </a:p>
                  </a:txBody>
                  <a:tcPr marL="54864" marR="54864" marT="27432" marB="27432">
                    <a:solidFill>
                      <a:srgbClr val="FFFFFF"/>
                    </a:solidFill>
                  </a:tcPr>
                </a:tc>
                <a:tc>
                  <a:txBody>
                    <a:bodyPr/>
                    <a:lstStyle/>
                    <a:p>
                      <a:r>
                        <a:rPr sz="1100">
                          <a:solidFill>
                            <a:srgbClr val="1F2A37"/>
                          </a:solidFill>
                          <a:latin typeface="Calibri"/>
                        </a:rPr>
                        <a:t>Monthly</a:t>
                      </a:r>
                    </a:p>
                  </a:txBody>
                  <a:tcPr marL="54864" marR="54864" marT="27432" marB="27432">
                    <a:solidFill>
                      <a:srgbClr val="FFFFFF"/>
                    </a:solidFill>
                  </a:tcPr>
                </a:tc>
              </a:tr>
              <a:tr h="384048">
                <a:tc>
                  <a:txBody>
                    <a:bodyPr/>
                    <a:lstStyle/>
                    <a:p>
                      <a:r>
                        <a:rPr sz="1100">
                          <a:solidFill>
                            <a:srgbClr val="1F2A37"/>
                          </a:solidFill>
                          <a:latin typeface="Calibri"/>
                        </a:rPr>
                        <a:t>Calibration (Brier score)</a:t>
                      </a:r>
                    </a:p>
                  </a:txBody>
                  <a:tcPr marL="54864" marR="54864" marT="27432" marB="27432">
                    <a:solidFill>
                      <a:srgbClr val="F3F6F8"/>
                    </a:solidFill>
                  </a:tcPr>
                </a:tc>
                <a:tc>
                  <a:txBody>
                    <a:bodyPr/>
                    <a:lstStyle/>
                    <a:p>
                      <a:r>
                        <a:rPr sz="1100">
                          <a:solidFill>
                            <a:srgbClr val="1F2A37"/>
                          </a:solidFill>
                          <a:latin typeface="Calibri"/>
                        </a:rPr>
                        <a:t>Within 10 % of validation value (0.208)</a:t>
                      </a:r>
                    </a:p>
                  </a:txBody>
                  <a:tcPr marL="54864" marR="54864" marT="27432" marB="27432">
                    <a:solidFill>
                      <a:srgbClr val="F3F6F8"/>
                    </a:solidFill>
                  </a:tcPr>
                </a:tc>
                <a:tc>
                  <a:txBody>
                    <a:bodyPr/>
                    <a:lstStyle/>
                    <a:p>
                      <a:r>
                        <a:rPr sz="1100">
                          <a:solidFill>
                            <a:srgbClr val="1F2A37"/>
                          </a:solidFill>
                          <a:latin typeface="Calibri"/>
                        </a:rPr>
                        <a:t>Quarterly</a:t>
                      </a:r>
                    </a:p>
                  </a:txBody>
                  <a:tcPr marL="54864" marR="54864" marT="27432" marB="27432">
                    <a:solidFill>
                      <a:srgbClr val="F3F6F8"/>
                    </a:solidFill>
                  </a:tcPr>
                </a:tc>
              </a:tr>
              <a:tr h="384048">
                <a:tc>
                  <a:txBody>
                    <a:bodyPr/>
                    <a:lstStyle/>
                    <a:p>
                      <a:r>
                        <a:rPr sz="1100">
                          <a:solidFill>
                            <a:srgbClr val="1F2A37"/>
                          </a:solidFill>
                          <a:latin typeface="Calibri"/>
                        </a:rPr>
                        <a:t>Override log</a:t>
                      </a:r>
                    </a:p>
                  </a:txBody>
                  <a:tcPr marL="54864" marR="54864" marT="27432" marB="27432">
                    <a:solidFill>
                      <a:srgbClr val="FFFFFF"/>
                    </a:solidFill>
                  </a:tcPr>
                </a:tc>
                <a:tc>
                  <a:txBody>
                    <a:bodyPr/>
                    <a:lstStyle/>
                    <a:p>
                      <a:r>
                        <a:rPr sz="1100">
                          <a:solidFill>
                            <a:srgbClr val="1F2A37"/>
                          </a:solidFill>
                          <a:latin typeface="Calibri"/>
                        </a:rPr>
                        <a:t>Staff overrides and reasons reviewed</a:t>
                      </a:r>
                    </a:p>
                  </a:txBody>
                  <a:tcPr marL="54864" marR="54864" marT="27432" marB="27432">
                    <a:solidFill>
                      <a:srgbClr val="FFFFFF"/>
                    </a:solidFill>
                  </a:tcPr>
                </a:tc>
                <a:tc>
                  <a:txBody>
                    <a:bodyPr/>
                    <a:lstStyle/>
                    <a:p>
                      <a:r>
                        <a:rPr sz="1100">
                          <a:solidFill>
                            <a:srgbClr val="1F2A37"/>
                          </a:solidFill>
                          <a:latin typeface="Calibri"/>
                        </a:rPr>
                        <a:t>Quarterly</a:t>
                      </a:r>
                    </a:p>
                  </a:txBody>
                  <a:tcPr marL="54864" marR="54864" marT="27432" marB="27432">
                    <a:solidFill>
                      <a:srgbClr val="FFFFFF"/>
                    </a:solidFill>
                  </a:tcPr>
                </a:tc>
              </a:tr>
            </a:tbl>
          </a:graphicData>
        </a:graphic>
      </p:graphicFrame>
      <p:sp>
        <p:nvSpPr>
          <p:cNvPr id="9" name="TextBox 8"/>
          <p:cNvSpPr txBox="1"/>
          <p:nvPr/>
        </p:nvSpPr>
        <p:spPr>
          <a:xfrm>
            <a:off x="411480" y="4206240"/>
            <a:ext cx="11338560" cy="1371600"/>
          </a:xfrm>
          <a:prstGeom prst="rect">
            <a:avLst/>
          </a:prstGeom>
          <a:noFill/>
        </p:spPr>
        <p:txBody>
          <a:bodyPr wrap="square" anchor="t" lIns="73152" rIns="73152" tIns="36576" bIns="36576">
            <a:spAutoFit/>
          </a:bodyPr>
          <a:lstStyle/>
          <a:p>
            <a:pPr algn="l">
              <a:spcAft>
                <a:spcPts val="400"/>
              </a:spcAft>
            </a:pPr>
            <a:r>
              <a:rPr sz="1100" b="0">
                <a:solidFill>
                  <a:srgbClr val="1F2A37"/>
                </a:solidFill>
                <a:latin typeface="Calibri"/>
              </a:rPr>
              <a:t>Module 1 success criteria on the proxy data: recall target met; gain ≥ 0.02 ROC-AUC over the rule baseline met; fairness release threshold met. Status: registered at Staging as a validated method (Module 2 Gate 3 passed on proxy data); Gate 4 requires local data, a repeat of the validation pack and governance sign-off.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548640"/>
          </a:xfrm>
          <a:prstGeom prst="rect">
            <a:avLst/>
          </a:prstGeom>
          <a:noFill/>
        </p:spPr>
        <p:txBody>
          <a:bodyPr wrap="square" anchor="t" lIns="73152" rIns="73152" tIns="36576" bIns="36576">
            <a:spAutoFit/>
          </a:bodyPr>
          <a:lstStyle/>
          <a:p>
            <a:pPr algn="l">
              <a:spcAft>
                <a:spcPts val="400"/>
              </a:spcAft>
            </a:pPr>
            <a:r>
              <a:rPr sz="2600" b="1">
                <a:solidFill>
                  <a:srgbClr val="FFFFFF"/>
                </a:solidFill>
                <a:latin typeface="Calibri"/>
              </a:rPr>
              <a:t>References</a:t>
            </a:r>
          </a:p>
        </p:txBody>
      </p:sp>
      <p:sp>
        <p:nvSpPr>
          <p:cNvPr id="4" name="TextBox 3"/>
          <p:cNvSpPr txBox="1"/>
          <p:nvPr/>
        </p:nvSpPr>
        <p:spPr>
          <a:xfrm>
            <a:off x="411480" y="566928"/>
            <a:ext cx="10972800" cy="365760"/>
          </a:xfrm>
          <a:prstGeom prst="rect">
            <a:avLst/>
          </a:prstGeom>
          <a:noFill/>
        </p:spPr>
        <p:txBody>
          <a:bodyPr wrap="square" anchor="t" lIns="73152" rIns="73152" tIns="36576" bIns="36576">
            <a:spAutoFit/>
          </a:bodyPr>
          <a:lstStyle/>
          <a:p>
            <a:pPr algn="l">
              <a:spcAft>
                <a:spcPts val="400"/>
              </a:spcAft>
            </a:pPr>
            <a:r>
              <a:rPr sz="1300" b="0">
                <a:solidFill>
                  <a:srgbClr val="D7E3EA"/>
                </a:solidFill>
                <a:latin typeface="Calibri"/>
              </a:rPr>
              <a:t>NXU (APA 7th) format</a:t>
            </a:r>
          </a:p>
        </p:txBody>
      </p:sp>
      <p:sp>
        <p:nvSpPr>
          <p:cNvPr id="5" name="Rectangle 4"/>
          <p:cNvSpPr/>
          <p:nvPr/>
        </p:nvSpPr>
        <p:spPr>
          <a:xfrm>
            <a:off x="0" y="6492240"/>
            <a:ext cx="12191695" cy="365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510528"/>
            <a:ext cx="8229600" cy="320040"/>
          </a:xfrm>
          <a:prstGeom prst="rect">
            <a:avLst/>
          </a:prstGeom>
          <a:noFill/>
        </p:spPr>
        <p:txBody>
          <a:bodyPr wrap="square" anchor="t" lIns="73152" rIns="73152" tIns="36576" bIns="36576">
            <a:spAutoFit/>
          </a:bodyPr>
          <a:lstStyle/>
          <a:p>
            <a:pPr algn="l">
              <a:spcAft>
                <a:spcPts val="400"/>
              </a:spcAft>
            </a:pPr>
            <a:r>
              <a:rPr sz="900" b="0">
                <a:solidFill>
                  <a:srgbClr val="8A8F98"/>
                </a:solidFill>
                <a:latin typeface="Calibri"/>
              </a:rPr>
              <a:t>Abdi Farah Ahmed · BAN6800 Business Analytics Capstone · Nexford University · Module 5 · Appendix</a:t>
            </a:r>
          </a:p>
        </p:txBody>
      </p:sp>
      <p:sp>
        <p:nvSpPr>
          <p:cNvPr id="7" name="TextBox 6"/>
          <p:cNvSpPr txBox="1"/>
          <p:nvPr/>
        </p:nvSpPr>
        <p:spPr>
          <a:xfrm>
            <a:off x="11155680" y="6510528"/>
            <a:ext cx="822960" cy="320040"/>
          </a:xfrm>
          <a:prstGeom prst="rect">
            <a:avLst/>
          </a:prstGeom>
          <a:noFill/>
        </p:spPr>
        <p:txBody>
          <a:bodyPr wrap="square" anchor="t" lIns="73152" rIns="73152" tIns="36576" bIns="36576">
            <a:spAutoFit/>
          </a:bodyPr>
          <a:lstStyle/>
          <a:p>
            <a:pPr algn="r">
              <a:spcAft>
                <a:spcPts val="400"/>
              </a:spcAft>
            </a:pPr>
            <a:r>
              <a:rPr sz="900" b="0">
                <a:solidFill>
                  <a:srgbClr val="8A8F98"/>
                </a:solidFill>
                <a:latin typeface="Calibri"/>
              </a:rPr>
              <a:t>24</a:t>
            </a:r>
          </a:p>
        </p:txBody>
      </p:sp>
      <p:sp>
        <p:nvSpPr>
          <p:cNvPr id="8" name="TextBox 7"/>
          <p:cNvSpPr txBox="1"/>
          <p:nvPr/>
        </p:nvSpPr>
        <p:spPr>
          <a:xfrm>
            <a:off x="411480" y="1143000"/>
            <a:ext cx="11338560" cy="5303520"/>
          </a:xfrm>
          <a:prstGeom prst="rect">
            <a:avLst/>
          </a:prstGeom>
          <a:noFill/>
        </p:spPr>
        <p:txBody>
          <a:bodyPr wrap="square" anchor="t" lIns="73152" rIns="73152" tIns="36576" bIns="36576">
            <a:spAutoFit/>
          </a:bodyPr>
          <a:lstStyle/>
          <a:p>
            <a:pPr algn="l">
              <a:spcAft>
                <a:spcPts val="300"/>
              </a:spcAft>
            </a:pPr>
            <a:r>
              <a:rPr sz="1000" b="0">
                <a:solidFill>
                  <a:srgbClr val="1F2A37"/>
                </a:solidFill>
                <a:latin typeface="Calibri"/>
              </a:rPr>
              <a:t>Ahmed, A. F. (2026a). Project vision document [Unpublished BAN6800 Module 1 assignment]. Nexford University.</a:t>
            </a:r>
          </a:p>
          <a:p>
            <a:pPr algn="l">
              <a:spcAft>
                <a:spcPts val="300"/>
              </a:spcAft>
            </a:pPr>
            <a:r>
              <a:rPr sz="1000" b="0">
                <a:solidFill>
                  <a:srgbClr val="1F2A37"/>
                </a:solidFill>
                <a:latin typeface="Calibri"/>
              </a:rPr>
              <a:t>Ahmed, A. F. (2026b). Business analytics project overview report [Unpublished BAN6800 Module 2 assignment]. Nexford University.</a:t>
            </a:r>
          </a:p>
          <a:p>
            <a:pPr algn="l">
              <a:spcAft>
                <a:spcPts val="300"/>
              </a:spcAft>
            </a:pPr>
            <a:r>
              <a:rPr sz="1000" b="0">
                <a:solidFill>
                  <a:srgbClr val="1F2A37"/>
                </a:solidFill>
                <a:latin typeface="Calibri"/>
              </a:rPr>
              <a:t>Ahmed, A. F. (2026c). Designing a data pipeline for referral no-show analytics [Unpublished BAN6800 Module 3 assignment]. Nexford University.</a:t>
            </a:r>
          </a:p>
          <a:p>
            <a:pPr algn="l">
              <a:spcAft>
                <a:spcPts val="300"/>
              </a:spcAft>
            </a:pPr>
            <a:r>
              <a:rPr sz="1000" b="0">
                <a:solidFill>
                  <a:srgbClr val="1F2A37"/>
                </a:solidFill>
                <a:latin typeface="Calibri"/>
              </a:rPr>
              <a:t>Ahmed, A. F. (2026d). Predictive model development and validation pack [Unpublished BAN6800 Module 4 assignment]. Nexford University.</a:t>
            </a:r>
          </a:p>
          <a:p>
            <a:pPr algn="l">
              <a:spcAft>
                <a:spcPts val="300"/>
              </a:spcAft>
            </a:pPr>
            <a:r>
              <a:rPr sz="1000" b="0">
                <a:solidFill>
                  <a:srgbClr val="1F2A37"/>
                </a:solidFill>
                <a:latin typeface="Calibri"/>
              </a:rPr>
              <a:t>CURE Ethiopia. (2023, August 29). New mobile clinic in Jigjiga. https://ethiopia.cure.org/news/new-mobile-clinic-in-jigjiga/</a:t>
            </a:r>
          </a:p>
          <a:p>
            <a:pPr algn="l">
              <a:spcAft>
                <a:spcPts val="300"/>
              </a:spcAft>
            </a:pPr>
            <a:r>
              <a:rPr sz="1000" b="0">
                <a:solidFill>
                  <a:srgbClr val="1F2A37"/>
                </a:solidFill>
                <a:latin typeface="Calibri"/>
              </a:rPr>
              <a:t>Federal Ministry of Justice, Ethiopia. (2024). Personal Data Protection Proclamation No. 1321/2024.</a:t>
            </a:r>
          </a:p>
          <a:p>
            <a:pPr algn="l">
              <a:spcAft>
                <a:spcPts val="300"/>
              </a:spcAft>
            </a:pPr>
            <a:r>
              <a:rPr sz="1000" b="0">
                <a:solidFill>
                  <a:srgbClr val="1F2A37"/>
                </a:solidFill>
                <a:latin typeface="Calibri"/>
              </a:rPr>
              <a:t>Hardt, M., Price, E., &amp; Srebro, N. (2016). Equality of opportunity in supervised learning. Advances in Neural Information Processing Systems, 29, 3315–3323.</a:t>
            </a:r>
          </a:p>
          <a:p>
            <a:pPr algn="l">
              <a:spcAft>
                <a:spcPts val="300"/>
              </a:spcAft>
            </a:pPr>
            <a:r>
              <a:rPr sz="1000" b="0">
                <a:solidFill>
                  <a:srgbClr val="1F2A37"/>
                </a:solidFill>
                <a:latin typeface="Calibri"/>
              </a:rPr>
              <a:t>Hoppen, J. (2016). Medical appointment no shows [Data set]. Kaggle. https://www.kaggle.com/datasets/joniarroba/noshowappointments</a:t>
            </a:r>
          </a:p>
          <a:p>
            <a:pPr algn="l">
              <a:spcAft>
                <a:spcPts val="300"/>
              </a:spcAft>
            </a:pPr>
            <a:r>
              <a:rPr sz="1000" b="0">
                <a:solidFill>
                  <a:srgbClr val="1F2A37"/>
                </a:solidFill>
                <a:latin typeface="Calibri"/>
              </a:rPr>
              <a:t>Lundberg, S. M., &amp; Lee, S.-I. (2017). A unified approach to interpreting model predictions. Advances in Neural Information Processing Systems, 30, 4765–4774.</a:t>
            </a:r>
          </a:p>
          <a:p>
            <a:pPr algn="l">
              <a:spcAft>
                <a:spcPts val="300"/>
              </a:spcAft>
            </a:pPr>
            <a:r>
              <a:rPr sz="1000" b="0">
                <a:solidFill>
                  <a:srgbClr val="1F2A37"/>
                </a:solidFill>
                <a:latin typeface="Calibri"/>
              </a:rPr>
              <a:t>Mitchell, M., et al. (2019). Model cards for model reporting. Proceedings of the Conference on Fairness, Accountability, and Transparency, 220–229.</a:t>
            </a:r>
          </a:p>
          <a:p>
            <a:pPr algn="l">
              <a:spcAft>
                <a:spcPts val="300"/>
              </a:spcAft>
            </a:pPr>
            <a:r>
              <a:rPr sz="1000" b="0">
                <a:solidFill>
                  <a:srgbClr val="1F2A37"/>
                </a:solidFill>
                <a:latin typeface="Calibri"/>
              </a:rPr>
              <a:t>Mothilal, R. K., Sharma, A., &amp; Tan, C. (2020). Explaining machine learning classifiers through diverse counterfactual explanations. FAT* 2020, 607–617.</a:t>
            </a:r>
          </a:p>
          <a:p>
            <a:pPr algn="l">
              <a:spcAft>
                <a:spcPts val="300"/>
              </a:spcAft>
            </a:pPr>
            <a:r>
              <a:rPr sz="1000" b="0">
                <a:solidFill>
                  <a:srgbClr val="1F2A37"/>
                </a:solidFill>
                <a:latin typeface="Calibri"/>
              </a:rPr>
              <a:t>Weerts, H., Dudík, M., Edgar, R., Jalali, A., Lutz, R., &amp; Madaio, M. (2023). Fairlearn: Assessing and improving fairness of AI systems. Journal of Machine Learning Research, 24(257), 1–8.</a:t>
            </a:r>
          </a:p>
          <a:p>
            <a:pPr algn="l">
              <a:spcAft>
                <a:spcPts val="300"/>
              </a:spcAft>
            </a:pPr>
            <a:r>
              <a:rPr sz="1000" b="0">
                <a:solidFill>
                  <a:srgbClr val="1F2A37"/>
                </a:solidFill>
                <a:latin typeface="Calibri"/>
              </a:rPr>
              <a:t>Streamlit Inc. (n.d.). Streamlit documentation. https://docs.streamlit.io/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